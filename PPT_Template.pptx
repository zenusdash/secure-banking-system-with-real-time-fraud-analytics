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9" r:id="rId3"/>
    <p:sldId id="264" r:id="rId4"/>
    <p:sldId id="267" r:id="rId5"/>
    <p:sldId id="277" r:id="rId6"/>
    <p:sldId id="272" r:id="rId7"/>
    <p:sldId id="286" r:id="rId8"/>
    <p:sldId id="274" r:id="rId9"/>
    <p:sldId id="27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A6CBEC"/>
    <a:srgbClr val="000099"/>
    <a:srgbClr val="DFE7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747AB3-30DC-436B-9362-88A916F3CCA9}" type="doc">
      <dgm:prSet loTypeId="urn:microsoft.com/office/officeart/2005/8/layout/list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A3C82977-B3F1-46FD-AE5F-767F69186181}">
      <dgm:prSet phldrT="[Text]" phldr="0"/>
      <dgm:spPr/>
      <dgm:t>
        <a:bodyPr/>
        <a:lstStyle/>
        <a:p>
          <a:r>
            <a:rPr lang="en-US" dirty="0"/>
            <a:t>Problem Statement:</a:t>
          </a:r>
          <a:endParaRPr lang="en-IN" dirty="0"/>
        </a:p>
      </dgm:t>
    </dgm:pt>
    <dgm:pt modelId="{21D0313F-7218-45BE-8597-1ACDB18DBAA3}" type="parTrans" cxnId="{A28B691A-2E08-4A5A-9A33-ED2E514EC590}">
      <dgm:prSet/>
      <dgm:spPr/>
      <dgm:t>
        <a:bodyPr/>
        <a:lstStyle/>
        <a:p>
          <a:endParaRPr lang="en-IN"/>
        </a:p>
      </dgm:t>
    </dgm:pt>
    <dgm:pt modelId="{20EB62B6-6D9A-41A2-9903-CC5476D9684D}" type="sibTrans" cxnId="{A28B691A-2E08-4A5A-9A33-ED2E514EC590}">
      <dgm:prSet/>
      <dgm:spPr/>
      <dgm:t>
        <a:bodyPr/>
        <a:lstStyle/>
        <a:p>
          <a:endParaRPr lang="en-IN"/>
        </a:p>
      </dgm:t>
    </dgm:pt>
    <dgm:pt modelId="{55D38B4C-F466-428F-98E0-F11297138E50}">
      <dgm:prSet phldrT="[Text]"/>
      <dgm:spPr/>
      <dgm:t>
        <a:bodyPr/>
        <a:lstStyle/>
        <a:p>
          <a:pPr>
            <a:buNone/>
          </a:pPr>
          <a:r>
            <a:rPr lang="en-IN" dirty="0"/>
            <a:t>Motivation:</a:t>
          </a:r>
        </a:p>
      </dgm:t>
    </dgm:pt>
    <dgm:pt modelId="{EA2327FE-8221-41E5-8926-3F5F635B8864}" type="parTrans" cxnId="{EE750C88-BC47-4E83-AFE7-5989D97E4168}">
      <dgm:prSet/>
      <dgm:spPr/>
      <dgm:t>
        <a:bodyPr/>
        <a:lstStyle/>
        <a:p>
          <a:endParaRPr lang="en-IN"/>
        </a:p>
      </dgm:t>
    </dgm:pt>
    <dgm:pt modelId="{A3699194-2D93-479E-83A8-F0477D2FF985}" type="sibTrans" cxnId="{EE750C88-BC47-4E83-AFE7-5989D97E4168}">
      <dgm:prSet/>
      <dgm:spPr/>
      <dgm:t>
        <a:bodyPr/>
        <a:lstStyle/>
        <a:p>
          <a:endParaRPr lang="en-IN"/>
        </a:p>
      </dgm:t>
    </dgm:pt>
    <dgm:pt modelId="{01C3923F-2167-45C2-AF1E-BF36BCFE3183}">
      <dgm:prSet phldrT="[Text]" phldr="0"/>
      <dgm:spPr/>
      <dgm:t>
        <a:bodyPr/>
        <a:lstStyle/>
        <a:p>
          <a:r>
            <a:rPr lang="en-US" dirty="0"/>
            <a:t>Project Goal:</a:t>
          </a:r>
          <a:endParaRPr lang="en-IN" dirty="0"/>
        </a:p>
      </dgm:t>
    </dgm:pt>
    <dgm:pt modelId="{07001EA7-A3EE-4BAA-85C5-456E4E226F18}" type="parTrans" cxnId="{A74BF347-409B-4BA7-8799-F169A3CEFA8A}">
      <dgm:prSet/>
      <dgm:spPr/>
      <dgm:t>
        <a:bodyPr/>
        <a:lstStyle/>
        <a:p>
          <a:endParaRPr lang="en-IN"/>
        </a:p>
      </dgm:t>
    </dgm:pt>
    <dgm:pt modelId="{B9C50D01-5FE1-4D47-B6C7-429D22CA401A}" type="sibTrans" cxnId="{A74BF347-409B-4BA7-8799-F169A3CEFA8A}">
      <dgm:prSet/>
      <dgm:spPr/>
      <dgm:t>
        <a:bodyPr/>
        <a:lstStyle/>
        <a:p>
          <a:endParaRPr lang="en-IN"/>
        </a:p>
      </dgm:t>
    </dgm:pt>
    <dgm:pt modelId="{7ED1AEC4-C874-4F5E-97BE-97993704B137}">
      <dgm:prSet phldrT="[Text]" phldr="0"/>
      <dgm:spPr/>
      <dgm:t>
        <a:bodyPr/>
        <a:lstStyle/>
        <a:p>
          <a:pPr>
            <a:buNone/>
          </a:pPr>
          <a:r>
            <a:rPr lang="en-US" dirty="0"/>
            <a:t>Standard banking databases often lack ACID compliance during system failures and rely on reactive, manual methods to identify suspicious transactions. </a:t>
          </a:r>
          <a:endParaRPr lang="en-IN" dirty="0"/>
        </a:p>
      </dgm:t>
    </dgm:pt>
    <dgm:pt modelId="{33F106B1-1073-4FD6-9BA5-74F318B2D793}" type="parTrans" cxnId="{C6FE0950-DAB6-4743-A7D3-F88C5711F7C0}">
      <dgm:prSet/>
      <dgm:spPr/>
      <dgm:t>
        <a:bodyPr/>
        <a:lstStyle/>
        <a:p>
          <a:endParaRPr lang="en-IN"/>
        </a:p>
      </dgm:t>
    </dgm:pt>
    <dgm:pt modelId="{1F311F78-46E3-49B3-88ED-1B5D4723C342}" type="sibTrans" cxnId="{C6FE0950-DAB6-4743-A7D3-F88C5711F7C0}">
      <dgm:prSet/>
      <dgm:spPr/>
      <dgm:t>
        <a:bodyPr/>
        <a:lstStyle/>
        <a:p>
          <a:endParaRPr lang="en-IN"/>
        </a:p>
      </dgm:t>
    </dgm:pt>
    <dgm:pt modelId="{5DD1A12D-AD89-4201-968E-9BC65E599F55}">
      <dgm:prSet/>
      <dgm:spPr/>
      <dgm:t>
        <a:bodyPr/>
        <a:lstStyle/>
        <a:p>
          <a:pPr>
            <a:buNone/>
          </a:pPr>
          <a:r>
            <a:rPr lang="en-US"/>
            <a:t>Financial systems require zero-error tolerance to prevent data loss and need automated, real-time security layers to proactively mitigate fraud. </a:t>
          </a:r>
        </a:p>
      </dgm:t>
    </dgm:pt>
    <dgm:pt modelId="{E82909F5-9A51-4EAC-8452-7D2CF097847E}" type="parTrans" cxnId="{74E08E35-84C2-49EC-9C3C-E40E42A75F32}">
      <dgm:prSet/>
      <dgm:spPr/>
      <dgm:t>
        <a:bodyPr/>
        <a:lstStyle/>
        <a:p>
          <a:endParaRPr lang="en-IN"/>
        </a:p>
      </dgm:t>
    </dgm:pt>
    <dgm:pt modelId="{22BE3B3A-43F2-43D2-AD16-3B455506D7DB}" type="sibTrans" cxnId="{74E08E35-84C2-49EC-9C3C-E40E42A75F32}">
      <dgm:prSet/>
      <dgm:spPr/>
      <dgm:t>
        <a:bodyPr/>
        <a:lstStyle/>
        <a:p>
          <a:endParaRPr lang="en-IN"/>
        </a:p>
      </dgm:t>
    </dgm:pt>
    <dgm:pt modelId="{76E99743-BA2A-4E27-A3FB-635272ACBC07}">
      <dgm:prSet phldrT="[Text]" phldr="0"/>
      <dgm:spPr/>
      <dgm:t>
        <a:bodyPr/>
        <a:lstStyle/>
        <a:p>
          <a:pPr>
            <a:buNone/>
          </a:pPr>
          <a:r>
            <a:rPr lang="en-US"/>
            <a:t>To develop a secure core banking system that utilizes an ACID-compliant transaction engine and SQL-driven behavioral analytics to ensure data integrity and real-time fraud monitoring.</a:t>
          </a:r>
          <a:endParaRPr lang="en-IN" dirty="0"/>
        </a:p>
      </dgm:t>
    </dgm:pt>
    <dgm:pt modelId="{BAD55C4B-480B-49F1-83CB-7AE9EA22DF90}" type="parTrans" cxnId="{73FAB4A0-2C2F-4301-A7B3-18D3BDDB4001}">
      <dgm:prSet/>
      <dgm:spPr/>
      <dgm:t>
        <a:bodyPr/>
        <a:lstStyle/>
        <a:p>
          <a:endParaRPr lang="en-IN"/>
        </a:p>
      </dgm:t>
    </dgm:pt>
    <dgm:pt modelId="{5E9B1D13-BD82-4DEA-BC36-C3C34E36F17E}" type="sibTrans" cxnId="{73FAB4A0-2C2F-4301-A7B3-18D3BDDB4001}">
      <dgm:prSet/>
      <dgm:spPr/>
      <dgm:t>
        <a:bodyPr/>
        <a:lstStyle/>
        <a:p>
          <a:endParaRPr lang="en-IN"/>
        </a:p>
      </dgm:t>
    </dgm:pt>
    <dgm:pt modelId="{202A5EAD-C42B-4BD4-9664-8A7FA3379A3E}" type="pres">
      <dgm:prSet presAssocID="{89747AB3-30DC-436B-9362-88A916F3CCA9}" presName="linear" presStyleCnt="0">
        <dgm:presLayoutVars>
          <dgm:dir/>
          <dgm:animLvl val="lvl"/>
          <dgm:resizeHandles val="exact"/>
        </dgm:presLayoutVars>
      </dgm:prSet>
      <dgm:spPr/>
    </dgm:pt>
    <dgm:pt modelId="{32F1C00D-7045-4921-A0DC-FE544D4B9881}" type="pres">
      <dgm:prSet presAssocID="{A3C82977-B3F1-46FD-AE5F-767F69186181}" presName="parentLin" presStyleCnt="0"/>
      <dgm:spPr/>
    </dgm:pt>
    <dgm:pt modelId="{ABBE367A-062B-42AD-A8FE-B81EE07B05D8}" type="pres">
      <dgm:prSet presAssocID="{A3C82977-B3F1-46FD-AE5F-767F69186181}" presName="parentLeftMargin" presStyleLbl="node1" presStyleIdx="0" presStyleCnt="3"/>
      <dgm:spPr/>
    </dgm:pt>
    <dgm:pt modelId="{DF23FABC-13F2-47B6-A4D4-1077F5752648}" type="pres">
      <dgm:prSet presAssocID="{A3C82977-B3F1-46FD-AE5F-767F6918618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AC14D28-3E2E-4D13-82E3-F5D36907B90D}" type="pres">
      <dgm:prSet presAssocID="{A3C82977-B3F1-46FD-AE5F-767F69186181}" presName="negativeSpace" presStyleCnt="0"/>
      <dgm:spPr/>
    </dgm:pt>
    <dgm:pt modelId="{0BE33616-5560-4E2F-9862-8C0118139EB8}" type="pres">
      <dgm:prSet presAssocID="{A3C82977-B3F1-46FD-AE5F-767F69186181}" presName="childText" presStyleLbl="conFgAcc1" presStyleIdx="0" presStyleCnt="3">
        <dgm:presLayoutVars>
          <dgm:bulletEnabled val="1"/>
        </dgm:presLayoutVars>
      </dgm:prSet>
      <dgm:spPr/>
    </dgm:pt>
    <dgm:pt modelId="{3172E64E-0DCB-4A31-8222-F7AEF174CD70}" type="pres">
      <dgm:prSet presAssocID="{20EB62B6-6D9A-41A2-9903-CC5476D9684D}" presName="spaceBetweenRectangles" presStyleCnt="0"/>
      <dgm:spPr/>
    </dgm:pt>
    <dgm:pt modelId="{597B0D26-B0A3-4B72-A756-4A3940093F4A}" type="pres">
      <dgm:prSet presAssocID="{55D38B4C-F466-428F-98E0-F11297138E50}" presName="parentLin" presStyleCnt="0"/>
      <dgm:spPr/>
    </dgm:pt>
    <dgm:pt modelId="{0FE63DC5-F881-4F7A-AADA-ED82E02F02B6}" type="pres">
      <dgm:prSet presAssocID="{55D38B4C-F466-428F-98E0-F11297138E50}" presName="parentLeftMargin" presStyleLbl="node1" presStyleIdx="0" presStyleCnt="3"/>
      <dgm:spPr/>
    </dgm:pt>
    <dgm:pt modelId="{FD041ECC-BED2-46DC-BA7A-87FB50662385}" type="pres">
      <dgm:prSet presAssocID="{55D38B4C-F466-428F-98E0-F11297138E5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D155F23-9C3D-4873-B3F5-403D29B93231}" type="pres">
      <dgm:prSet presAssocID="{55D38B4C-F466-428F-98E0-F11297138E50}" presName="negativeSpace" presStyleCnt="0"/>
      <dgm:spPr/>
    </dgm:pt>
    <dgm:pt modelId="{844F25A5-EB09-44A1-90E8-990890FD70AB}" type="pres">
      <dgm:prSet presAssocID="{55D38B4C-F466-428F-98E0-F11297138E50}" presName="childText" presStyleLbl="conFgAcc1" presStyleIdx="1" presStyleCnt="3">
        <dgm:presLayoutVars>
          <dgm:bulletEnabled val="1"/>
        </dgm:presLayoutVars>
      </dgm:prSet>
      <dgm:spPr/>
    </dgm:pt>
    <dgm:pt modelId="{0F9B500F-A75F-47F9-8F61-F8F24DC2498F}" type="pres">
      <dgm:prSet presAssocID="{A3699194-2D93-479E-83A8-F0477D2FF985}" presName="spaceBetweenRectangles" presStyleCnt="0"/>
      <dgm:spPr/>
    </dgm:pt>
    <dgm:pt modelId="{03C2EB6E-81EB-4FFD-873B-BF3AEB960DCB}" type="pres">
      <dgm:prSet presAssocID="{01C3923F-2167-45C2-AF1E-BF36BCFE3183}" presName="parentLin" presStyleCnt="0"/>
      <dgm:spPr/>
    </dgm:pt>
    <dgm:pt modelId="{DDB4B668-0A78-4D04-A3F2-F87A9367E3A2}" type="pres">
      <dgm:prSet presAssocID="{01C3923F-2167-45C2-AF1E-BF36BCFE3183}" presName="parentLeftMargin" presStyleLbl="node1" presStyleIdx="1" presStyleCnt="3"/>
      <dgm:spPr/>
    </dgm:pt>
    <dgm:pt modelId="{D772762F-0DF0-40F6-84FB-3A80B5C5AD56}" type="pres">
      <dgm:prSet presAssocID="{01C3923F-2167-45C2-AF1E-BF36BCFE3183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7C4D03E4-F13E-408F-B81E-3F12F678409F}" type="pres">
      <dgm:prSet presAssocID="{01C3923F-2167-45C2-AF1E-BF36BCFE3183}" presName="negativeSpace" presStyleCnt="0"/>
      <dgm:spPr/>
    </dgm:pt>
    <dgm:pt modelId="{6BF2FD6F-45F3-4538-B3E9-2AD43C9C238E}" type="pres">
      <dgm:prSet presAssocID="{01C3923F-2167-45C2-AF1E-BF36BCFE3183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80430B0B-6437-48EC-A97B-B5362D81AE33}" type="presOf" srcId="{01C3923F-2167-45C2-AF1E-BF36BCFE3183}" destId="{DDB4B668-0A78-4D04-A3F2-F87A9367E3A2}" srcOrd="0" destOrd="0" presId="urn:microsoft.com/office/officeart/2005/8/layout/list1"/>
    <dgm:cxn modelId="{D432800F-D624-4F9F-AC7D-51C5AE080759}" type="presOf" srcId="{A3C82977-B3F1-46FD-AE5F-767F69186181}" destId="{DF23FABC-13F2-47B6-A4D4-1077F5752648}" srcOrd="1" destOrd="0" presId="urn:microsoft.com/office/officeart/2005/8/layout/list1"/>
    <dgm:cxn modelId="{A28B691A-2E08-4A5A-9A33-ED2E514EC590}" srcId="{89747AB3-30DC-436B-9362-88A916F3CCA9}" destId="{A3C82977-B3F1-46FD-AE5F-767F69186181}" srcOrd="0" destOrd="0" parTransId="{21D0313F-7218-45BE-8597-1ACDB18DBAA3}" sibTransId="{20EB62B6-6D9A-41A2-9903-CC5476D9684D}"/>
    <dgm:cxn modelId="{74E08E35-84C2-49EC-9C3C-E40E42A75F32}" srcId="{55D38B4C-F466-428F-98E0-F11297138E50}" destId="{5DD1A12D-AD89-4201-968E-9BC65E599F55}" srcOrd="0" destOrd="0" parTransId="{E82909F5-9A51-4EAC-8452-7D2CF097847E}" sibTransId="{22BE3B3A-43F2-43D2-AD16-3B455506D7DB}"/>
    <dgm:cxn modelId="{CDDEBB40-145C-45FC-9FBD-0CB6F0898EB6}" type="presOf" srcId="{76E99743-BA2A-4E27-A3FB-635272ACBC07}" destId="{6BF2FD6F-45F3-4538-B3E9-2AD43C9C238E}" srcOrd="0" destOrd="0" presId="urn:microsoft.com/office/officeart/2005/8/layout/list1"/>
    <dgm:cxn modelId="{622C235D-3BFA-4B22-87E5-611903E74238}" type="presOf" srcId="{5DD1A12D-AD89-4201-968E-9BC65E599F55}" destId="{844F25A5-EB09-44A1-90E8-990890FD70AB}" srcOrd="0" destOrd="0" presId="urn:microsoft.com/office/officeart/2005/8/layout/list1"/>
    <dgm:cxn modelId="{A74BF347-409B-4BA7-8799-F169A3CEFA8A}" srcId="{89747AB3-30DC-436B-9362-88A916F3CCA9}" destId="{01C3923F-2167-45C2-AF1E-BF36BCFE3183}" srcOrd="2" destOrd="0" parTransId="{07001EA7-A3EE-4BAA-85C5-456E4E226F18}" sibTransId="{B9C50D01-5FE1-4D47-B6C7-429D22CA401A}"/>
    <dgm:cxn modelId="{43FF256E-169D-470E-80D8-3E6C2849F573}" type="presOf" srcId="{7ED1AEC4-C874-4F5E-97BE-97993704B137}" destId="{0BE33616-5560-4E2F-9862-8C0118139EB8}" srcOrd="0" destOrd="0" presId="urn:microsoft.com/office/officeart/2005/8/layout/list1"/>
    <dgm:cxn modelId="{C6FE0950-DAB6-4743-A7D3-F88C5711F7C0}" srcId="{A3C82977-B3F1-46FD-AE5F-767F69186181}" destId="{7ED1AEC4-C874-4F5E-97BE-97993704B137}" srcOrd="0" destOrd="0" parTransId="{33F106B1-1073-4FD6-9BA5-74F318B2D793}" sibTransId="{1F311F78-46E3-49B3-88ED-1B5D4723C342}"/>
    <dgm:cxn modelId="{03171151-3C14-4FAC-8A54-C8F6A5993B58}" type="presOf" srcId="{A3C82977-B3F1-46FD-AE5F-767F69186181}" destId="{ABBE367A-062B-42AD-A8FE-B81EE07B05D8}" srcOrd="0" destOrd="0" presId="urn:microsoft.com/office/officeart/2005/8/layout/list1"/>
    <dgm:cxn modelId="{87394471-A322-424D-A3EF-C342A659C538}" type="presOf" srcId="{89747AB3-30DC-436B-9362-88A916F3CCA9}" destId="{202A5EAD-C42B-4BD4-9664-8A7FA3379A3E}" srcOrd="0" destOrd="0" presId="urn:microsoft.com/office/officeart/2005/8/layout/list1"/>
    <dgm:cxn modelId="{8EEE1379-4B58-40B6-96BC-4C6113713BA4}" type="presOf" srcId="{55D38B4C-F466-428F-98E0-F11297138E50}" destId="{FD041ECC-BED2-46DC-BA7A-87FB50662385}" srcOrd="1" destOrd="0" presId="urn:microsoft.com/office/officeart/2005/8/layout/list1"/>
    <dgm:cxn modelId="{EE750C88-BC47-4E83-AFE7-5989D97E4168}" srcId="{89747AB3-30DC-436B-9362-88A916F3CCA9}" destId="{55D38B4C-F466-428F-98E0-F11297138E50}" srcOrd="1" destOrd="0" parTransId="{EA2327FE-8221-41E5-8926-3F5F635B8864}" sibTransId="{A3699194-2D93-479E-83A8-F0477D2FF985}"/>
    <dgm:cxn modelId="{73FAB4A0-2C2F-4301-A7B3-18D3BDDB4001}" srcId="{01C3923F-2167-45C2-AF1E-BF36BCFE3183}" destId="{76E99743-BA2A-4E27-A3FB-635272ACBC07}" srcOrd="0" destOrd="0" parTransId="{BAD55C4B-480B-49F1-83CB-7AE9EA22DF90}" sibTransId="{5E9B1D13-BD82-4DEA-BC36-C3C34E36F17E}"/>
    <dgm:cxn modelId="{F5C089E0-E3AF-4974-885C-E3F62A3986BE}" type="presOf" srcId="{01C3923F-2167-45C2-AF1E-BF36BCFE3183}" destId="{D772762F-0DF0-40F6-84FB-3A80B5C5AD56}" srcOrd="1" destOrd="0" presId="urn:microsoft.com/office/officeart/2005/8/layout/list1"/>
    <dgm:cxn modelId="{9D9623EF-91A7-43E9-A8B4-E5084EA1DC36}" type="presOf" srcId="{55D38B4C-F466-428F-98E0-F11297138E50}" destId="{0FE63DC5-F881-4F7A-AADA-ED82E02F02B6}" srcOrd="0" destOrd="0" presId="urn:microsoft.com/office/officeart/2005/8/layout/list1"/>
    <dgm:cxn modelId="{0289A638-3067-4BEF-B3DB-F38DE8BAA2F4}" type="presParOf" srcId="{202A5EAD-C42B-4BD4-9664-8A7FA3379A3E}" destId="{32F1C00D-7045-4921-A0DC-FE544D4B9881}" srcOrd="0" destOrd="0" presId="urn:microsoft.com/office/officeart/2005/8/layout/list1"/>
    <dgm:cxn modelId="{122BF0BC-B0D4-4911-AAC2-B6D36113AE1F}" type="presParOf" srcId="{32F1C00D-7045-4921-A0DC-FE544D4B9881}" destId="{ABBE367A-062B-42AD-A8FE-B81EE07B05D8}" srcOrd="0" destOrd="0" presId="urn:microsoft.com/office/officeart/2005/8/layout/list1"/>
    <dgm:cxn modelId="{EAF171AD-13D1-4CCC-A084-15E8BE3BC3DA}" type="presParOf" srcId="{32F1C00D-7045-4921-A0DC-FE544D4B9881}" destId="{DF23FABC-13F2-47B6-A4D4-1077F5752648}" srcOrd="1" destOrd="0" presId="urn:microsoft.com/office/officeart/2005/8/layout/list1"/>
    <dgm:cxn modelId="{6F93EA26-83D4-4DAC-A134-FB807854513F}" type="presParOf" srcId="{202A5EAD-C42B-4BD4-9664-8A7FA3379A3E}" destId="{7AC14D28-3E2E-4D13-82E3-F5D36907B90D}" srcOrd="1" destOrd="0" presId="urn:microsoft.com/office/officeart/2005/8/layout/list1"/>
    <dgm:cxn modelId="{0E314D76-65E9-4E98-BBA1-44CF8D77074B}" type="presParOf" srcId="{202A5EAD-C42B-4BD4-9664-8A7FA3379A3E}" destId="{0BE33616-5560-4E2F-9862-8C0118139EB8}" srcOrd="2" destOrd="0" presId="urn:microsoft.com/office/officeart/2005/8/layout/list1"/>
    <dgm:cxn modelId="{88EA26C8-B974-4ECB-AA72-FEBEB85A2C39}" type="presParOf" srcId="{202A5EAD-C42B-4BD4-9664-8A7FA3379A3E}" destId="{3172E64E-0DCB-4A31-8222-F7AEF174CD70}" srcOrd="3" destOrd="0" presId="urn:microsoft.com/office/officeart/2005/8/layout/list1"/>
    <dgm:cxn modelId="{13292937-08C1-4183-91F2-EBE24BFA7F1B}" type="presParOf" srcId="{202A5EAD-C42B-4BD4-9664-8A7FA3379A3E}" destId="{597B0D26-B0A3-4B72-A756-4A3940093F4A}" srcOrd="4" destOrd="0" presId="urn:microsoft.com/office/officeart/2005/8/layout/list1"/>
    <dgm:cxn modelId="{AD920F8F-829C-44FC-A2DE-6AF2A2835F4D}" type="presParOf" srcId="{597B0D26-B0A3-4B72-A756-4A3940093F4A}" destId="{0FE63DC5-F881-4F7A-AADA-ED82E02F02B6}" srcOrd="0" destOrd="0" presId="urn:microsoft.com/office/officeart/2005/8/layout/list1"/>
    <dgm:cxn modelId="{5B186E1A-51BB-431E-A7E9-235EB56690BA}" type="presParOf" srcId="{597B0D26-B0A3-4B72-A756-4A3940093F4A}" destId="{FD041ECC-BED2-46DC-BA7A-87FB50662385}" srcOrd="1" destOrd="0" presId="urn:microsoft.com/office/officeart/2005/8/layout/list1"/>
    <dgm:cxn modelId="{5FEE97B1-5D88-4F75-AD72-3F13F0A1A4A5}" type="presParOf" srcId="{202A5EAD-C42B-4BD4-9664-8A7FA3379A3E}" destId="{7D155F23-9C3D-4873-B3F5-403D29B93231}" srcOrd="5" destOrd="0" presId="urn:microsoft.com/office/officeart/2005/8/layout/list1"/>
    <dgm:cxn modelId="{CA2B4A5D-1471-4678-9DEC-3A7A8B65D35C}" type="presParOf" srcId="{202A5EAD-C42B-4BD4-9664-8A7FA3379A3E}" destId="{844F25A5-EB09-44A1-90E8-990890FD70AB}" srcOrd="6" destOrd="0" presId="urn:microsoft.com/office/officeart/2005/8/layout/list1"/>
    <dgm:cxn modelId="{EC6E4BD8-5DED-4F02-999D-7D05F51BAF4C}" type="presParOf" srcId="{202A5EAD-C42B-4BD4-9664-8A7FA3379A3E}" destId="{0F9B500F-A75F-47F9-8F61-F8F24DC2498F}" srcOrd="7" destOrd="0" presId="urn:microsoft.com/office/officeart/2005/8/layout/list1"/>
    <dgm:cxn modelId="{14C1FCF9-BA9A-4C16-BA6A-1786A8845711}" type="presParOf" srcId="{202A5EAD-C42B-4BD4-9664-8A7FA3379A3E}" destId="{03C2EB6E-81EB-4FFD-873B-BF3AEB960DCB}" srcOrd="8" destOrd="0" presId="urn:microsoft.com/office/officeart/2005/8/layout/list1"/>
    <dgm:cxn modelId="{5295393A-1C45-40F8-A9BB-BA453D7FE80D}" type="presParOf" srcId="{03C2EB6E-81EB-4FFD-873B-BF3AEB960DCB}" destId="{DDB4B668-0A78-4D04-A3F2-F87A9367E3A2}" srcOrd="0" destOrd="0" presId="urn:microsoft.com/office/officeart/2005/8/layout/list1"/>
    <dgm:cxn modelId="{9F6AB220-956D-477B-AB3A-622464A5C624}" type="presParOf" srcId="{03C2EB6E-81EB-4FFD-873B-BF3AEB960DCB}" destId="{D772762F-0DF0-40F6-84FB-3A80B5C5AD56}" srcOrd="1" destOrd="0" presId="urn:microsoft.com/office/officeart/2005/8/layout/list1"/>
    <dgm:cxn modelId="{3C0461FB-BB23-4CBA-9FB2-D5233E856134}" type="presParOf" srcId="{202A5EAD-C42B-4BD4-9664-8A7FA3379A3E}" destId="{7C4D03E4-F13E-408F-B81E-3F12F678409F}" srcOrd="9" destOrd="0" presId="urn:microsoft.com/office/officeart/2005/8/layout/list1"/>
    <dgm:cxn modelId="{A928B4E9-CA29-40B8-825F-83F05EB8C83B}" type="presParOf" srcId="{202A5EAD-C42B-4BD4-9664-8A7FA3379A3E}" destId="{6BF2FD6F-45F3-4538-B3E9-2AD43C9C238E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6341866-C117-4EE0-BCAF-3F67ACBA72D3}" type="doc">
      <dgm:prSet loTypeId="urn:diagrams.loki3.com/Bracket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DC2BCCBF-192A-4130-A319-42126374DECD}">
      <dgm:prSet phldrT="[Text]"/>
      <dgm:spPr/>
      <dgm:t>
        <a:bodyPr/>
        <a:lstStyle/>
        <a:p>
          <a:pPr>
            <a:buNone/>
          </a:pPr>
          <a:r>
            <a:rPr lang="en-IN" dirty="0"/>
            <a:t>ACID-Compliant Transaction </a:t>
          </a:r>
        </a:p>
      </dgm:t>
    </dgm:pt>
    <dgm:pt modelId="{5705AED5-D442-4978-AC86-785B15BD29DC}" type="parTrans" cxnId="{F12F5F88-D3D8-4618-A96F-F77FC74359C3}">
      <dgm:prSet/>
      <dgm:spPr/>
      <dgm:t>
        <a:bodyPr/>
        <a:lstStyle/>
        <a:p>
          <a:endParaRPr lang="en-IN"/>
        </a:p>
      </dgm:t>
    </dgm:pt>
    <dgm:pt modelId="{C693B3E8-03F0-4037-884B-5DF79581BB31}" type="sibTrans" cxnId="{F12F5F88-D3D8-4618-A96F-F77FC74359C3}">
      <dgm:prSet/>
      <dgm:spPr/>
      <dgm:t>
        <a:bodyPr/>
        <a:lstStyle/>
        <a:p>
          <a:endParaRPr lang="en-IN"/>
        </a:p>
      </dgm:t>
    </dgm:pt>
    <dgm:pt modelId="{F5DF27D9-9798-47FF-B46E-F79A74132FC1}">
      <dgm:prSet phldrT="[Text]"/>
      <dgm:spPr/>
      <dgm:t>
        <a:bodyPr/>
        <a:lstStyle/>
        <a:p>
          <a:pPr>
            <a:buNone/>
          </a:pPr>
          <a:r>
            <a:rPr lang="en-US" dirty="0"/>
            <a:t>Uses relational architecture (e.g., Temenos) to ensure atomic, durable transfers, preventing data loss during system failures.</a:t>
          </a:r>
          <a:endParaRPr lang="en-IN" dirty="0"/>
        </a:p>
      </dgm:t>
    </dgm:pt>
    <dgm:pt modelId="{092D559A-8F72-4606-B483-9F791F68F9F7}" type="parTrans" cxnId="{C7A7CDC7-E571-4056-9A8F-CCC0755A29E6}">
      <dgm:prSet/>
      <dgm:spPr/>
      <dgm:t>
        <a:bodyPr/>
        <a:lstStyle/>
        <a:p>
          <a:endParaRPr lang="en-IN"/>
        </a:p>
      </dgm:t>
    </dgm:pt>
    <dgm:pt modelId="{4F198059-258A-4AE0-B564-1E5340F713A5}" type="sibTrans" cxnId="{C7A7CDC7-E571-4056-9A8F-CCC0755A29E6}">
      <dgm:prSet/>
      <dgm:spPr/>
      <dgm:t>
        <a:bodyPr/>
        <a:lstStyle/>
        <a:p>
          <a:endParaRPr lang="en-IN"/>
        </a:p>
      </dgm:t>
    </dgm:pt>
    <dgm:pt modelId="{CA125154-C39B-44E7-A379-553712BD971D}">
      <dgm:prSet phldrT="[Text]"/>
      <dgm:spPr/>
      <dgm:t>
        <a:bodyPr/>
        <a:lstStyle/>
        <a:p>
          <a:pPr>
            <a:buNone/>
          </a:pPr>
          <a:r>
            <a:rPr lang="en-IN" dirty="0"/>
            <a:t>SQL-Based Real-Time Triggers</a:t>
          </a:r>
        </a:p>
      </dgm:t>
    </dgm:pt>
    <dgm:pt modelId="{7B78C393-BB9B-4F88-B183-F474A0B40238}" type="parTrans" cxnId="{305AD3F8-8157-4E1A-B987-F90C55F46CD9}">
      <dgm:prSet/>
      <dgm:spPr/>
      <dgm:t>
        <a:bodyPr/>
        <a:lstStyle/>
        <a:p>
          <a:endParaRPr lang="en-IN"/>
        </a:p>
      </dgm:t>
    </dgm:pt>
    <dgm:pt modelId="{7298C21D-8BA7-4433-A1C6-9C7BC0400C8D}" type="sibTrans" cxnId="{305AD3F8-8157-4E1A-B987-F90C55F46CD9}">
      <dgm:prSet/>
      <dgm:spPr/>
      <dgm:t>
        <a:bodyPr/>
        <a:lstStyle/>
        <a:p>
          <a:endParaRPr lang="en-IN"/>
        </a:p>
      </dgm:t>
    </dgm:pt>
    <dgm:pt modelId="{E7E3BA7C-2A8E-4D27-803D-53B763D0E694}">
      <dgm:prSet phldrT="[Text]"/>
      <dgm:spPr/>
      <dgm:t>
        <a:bodyPr/>
        <a:lstStyle/>
        <a:p>
          <a:pPr>
            <a:buNone/>
          </a:pPr>
          <a:r>
            <a:rPr lang="en-US" dirty="0"/>
            <a:t>Pushes security logic to the database layer to immediately flag high-value or high-velocity fraud at the point of entry. </a:t>
          </a:r>
          <a:endParaRPr lang="en-IN" dirty="0"/>
        </a:p>
      </dgm:t>
    </dgm:pt>
    <dgm:pt modelId="{5C4C97FB-C75C-4767-98F5-5767203EF82C}" type="parTrans" cxnId="{B6A328EE-8D1B-4728-93EA-4EA089C57AC1}">
      <dgm:prSet/>
      <dgm:spPr/>
      <dgm:t>
        <a:bodyPr/>
        <a:lstStyle/>
        <a:p>
          <a:endParaRPr lang="en-IN"/>
        </a:p>
      </dgm:t>
    </dgm:pt>
    <dgm:pt modelId="{59226619-F9B1-47E6-B2DC-2462860D6F73}" type="sibTrans" cxnId="{B6A328EE-8D1B-4728-93EA-4EA089C57AC1}">
      <dgm:prSet/>
      <dgm:spPr/>
      <dgm:t>
        <a:bodyPr/>
        <a:lstStyle/>
        <a:p>
          <a:endParaRPr lang="en-IN"/>
        </a:p>
      </dgm:t>
    </dgm:pt>
    <dgm:pt modelId="{D5674275-8153-451C-88EC-5C90390A2BE3}">
      <dgm:prSet phldrT="[Text]" phldr="0"/>
      <dgm:spPr/>
      <dgm:t>
        <a:bodyPr/>
        <a:lstStyle/>
        <a:p>
          <a:pPr>
            <a:buNone/>
          </a:pPr>
          <a:r>
            <a:rPr lang="en-IN" dirty="0"/>
            <a:t>Behavioural Anomaly Detection</a:t>
          </a:r>
        </a:p>
      </dgm:t>
    </dgm:pt>
    <dgm:pt modelId="{92BC7363-AE96-4BDA-BEA2-34772972CEFA}" type="parTrans" cxnId="{A42E3647-53FD-4429-8013-4CF7F6C1DD52}">
      <dgm:prSet/>
      <dgm:spPr/>
      <dgm:t>
        <a:bodyPr/>
        <a:lstStyle/>
        <a:p>
          <a:endParaRPr lang="en-IN"/>
        </a:p>
      </dgm:t>
    </dgm:pt>
    <dgm:pt modelId="{63D22F80-FF7C-4E0B-8E28-FDB499783505}" type="sibTrans" cxnId="{A42E3647-53FD-4429-8013-4CF7F6C1DD52}">
      <dgm:prSet/>
      <dgm:spPr/>
      <dgm:t>
        <a:bodyPr/>
        <a:lstStyle/>
        <a:p>
          <a:endParaRPr lang="en-IN"/>
        </a:p>
      </dgm:t>
    </dgm:pt>
    <dgm:pt modelId="{D869A34F-5856-4741-8C2F-506850D7123D}">
      <dgm:prSet phldrT="[Text]" phldr="0"/>
      <dgm:spPr/>
      <dgm:t>
        <a:bodyPr/>
        <a:lstStyle/>
        <a:p>
          <a:pPr>
            <a:buNone/>
          </a:pPr>
          <a:r>
            <a:rPr lang="en-IN" dirty="0"/>
            <a:t>Role-Based Integrated Dashboards</a:t>
          </a:r>
        </a:p>
      </dgm:t>
    </dgm:pt>
    <dgm:pt modelId="{69ED413D-88B2-4AFD-B66E-7A979C238786}" type="parTrans" cxnId="{928E66E5-8B7C-4DD6-9B1A-757BD89BE1E9}">
      <dgm:prSet/>
      <dgm:spPr/>
      <dgm:t>
        <a:bodyPr/>
        <a:lstStyle/>
        <a:p>
          <a:endParaRPr lang="en-IN"/>
        </a:p>
      </dgm:t>
    </dgm:pt>
    <dgm:pt modelId="{71152F98-F938-4036-8420-F54AA1EF1C17}" type="sibTrans" cxnId="{928E66E5-8B7C-4DD6-9B1A-757BD89BE1E9}">
      <dgm:prSet/>
      <dgm:spPr/>
      <dgm:t>
        <a:bodyPr/>
        <a:lstStyle/>
        <a:p>
          <a:endParaRPr lang="en-IN"/>
        </a:p>
      </dgm:t>
    </dgm:pt>
    <dgm:pt modelId="{B85C5AB7-D841-4746-B497-82E630253B1E}">
      <dgm:prSet phldrT="[Text]" phldr="0"/>
      <dgm:spPr/>
      <dgm:t>
        <a:bodyPr/>
        <a:lstStyle/>
        <a:p>
          <a:pPr>
            <a:buNone/>
          </a:pPr>
          <a:r>
            <a:rPr lang="en-US" dirty="0"/>
            <a:t>Establishes user baselines through peak usage heatmaps and velocity checks to proactively identify statistical outliers.</a:t>
          </a:r>
          <a:endParaRPr lang="en-IN" dirty="0"/>
        </a:p>
      </dgm:t>
    </dgm:pt>
    <dgm:pt modelId="{ACCBBE74-2CE3-4927-AFDB-E5A8FE3C23CE}" type="parTrans" cxnId="{5BACF45D-4DE0-4DCC-80EB-8DB62B111B48}">
      <dgm:prSet/>
      <dgm:spPr/>
      <dgm:t>
        <a:bodyPr/>
        <a:lstStyle/>
        <a:p>
          <a:endParaRPr lang="en-IN"/>
        </a:p>
      </dgm:t>
    </dgm:pt>
    <dgm:pt modelId="{29DF42A7-21BD-4061-AA04-4528AC19AA0D}" type="sibTrans" cxnId="{5BACF45D-4DE0-4DCC-80EB-8DB62B111B48}">
      <dgm:prSet/>
      <dgm:spPr/>
      <dgm:t>
        <a:bodyPr/>
        <a:lstStyle/>
        <a:p>
          <a:endParaRPr lang="en-IN"/>
        </a:p>
      </dgm:t>
    </dgm:pt>
    <dgm:pt modelId="{0FEE2E41-E9CE-43DA-B1EB-25E2507C13FA}">
      <dgm:prSet phldrT="[Text]" phldr="0"/>
      <dgm:spPr/>
      <dgm:t>
        <a:bodyPr/>
        <a:lstStyle/>
        <a:p>
          <a:pPr>
            <a:buNone/>
          </a:pPr>
          <a:r>
            <a:rPr lang="en-US" dirty="0"/>
            <a:t>Provides distinct interfaces (</a:t>
          </a:r>
          <a:r>
            <a:rPr lang="en-US" dirty="0" err="1"/>
            <a:t>Streamlit</a:t>
          </a:r>
          <a:r>
            <a:rPr lang="en-US" dirty="0"/>
            <a:t>/Power BI) separating daily staff operations from executive strategic insights. </a:t>
          </a:r>
          <a:endParaRPr lang="en-IN" dirty="0"/>
        </a:p>
      </dgm:t>
    </dgm:pt>
    <dgm:pt modelId="{EDEE4B8A-620B-4F57-B90F-D93C1D6CB8AC}" type="parTrans" cxnId="{27ABD094-FAF7-4785-8611-6B9BDD385B4F}">
      <dgm:prSet/>
      <dgm:spPr/>
      <dgm:t>
        <a:bodyPr/>
        <a:lstStyle/>
        <a:p>
          <a:endParaRPr lang="en-IN"/>
        </a:p>
      </dgm:t>
    </dgm:pt>
    <dgm:pt modelId="{167D034E-8A50-45F4-B035-19B7736FF219}" type="sibTrans" cxnId="{27ABD094-FAF7-4785-8611-6B9BDD385B4F}">
      <dgm:prSet/>
      <dgm:spPr/>
      <dgm:t>
        <a:bodyPr/>
        <a:lstStyle/>
        <a:p>
          <a:endParaRPr lang="en-IN"/>
        </a:p>
      </dgm:t>
    </dgm:pt>
    <dgm:pt modelId="{C9F92D73-1832-45B4-B667-1779AA1795B2}" type="pres">
      <dgm:prSet presAssocID="{F6341866-C117-4EE0-BCAF-3F67ACBA72D3}" presName="Name0" presStyleCnt="0">
        <dgm:presLayoutVars>
          <dgm:dir/>
          <dgm:animLvl val="lvl"/>
          <dgm:resizeHandles val="exact"/>
        </dgm:presLayoutVars>
      </dgm:prSet>
      <dgm:spPr/>
    </dgm:pt>
    <dgm:pt modelId="{C0B175B4-A394-498C-8C17-06C435B6F474}" type="pres">
      <dgm:prSet presAssocID="{DC2BCCBF-192A-4130-A319-42126374DECD}" presName="linNode" presStyleCnt="0"/>
      <dgm:spPr/>
    </dgm:pt>
    <dgm:pt modelId="{95316838-1619-4AB8-922E-A0F90AE3CE91}" type="pres">
      <dgm:prSet presAssocID="{DC2BCCBF-192A-4130-A319-42126374DECD}" presName="parTx" presStyleLbl="revTx" presStyleIdx="0" presStyleCnt="4">
        <dgm:presLayoutVars>
          <dgm:chMax val="1"/>
          <dgm:bulletEnabled val="1"/>
        </dgm:presLayoutVars>
      </dgm:prSet>
      <dgm:spPr/>
    </dgm:pt>
    <dgm:pt modelId="{5C8F8ED3-CF8B-4AE8-8AF0-77D03F15AFD3}" type="pres">
      <dgm:prSet presAssocID="{DC2BCCBF-192A-4130-A319-42126374DECD}" presName="bracket" presStyleLbl="parChTrans1D1" presStyleIdx="0" presStyleCnt="4"/>
      <dgm:spPr/>
    </dgm:pt>
    <dgm:pt modelId="{0AA14740-2E9F-4FB7-952B-7C1DF0603A61}" type="pres">
      <dgm:prSet presAssocID="{DC2BCCBF-192A-4130-A319-42126374DECD}" presName="spH" presStyleCnt="0"/>
      <dgm:spPr/>
    </dgm:pt>
    <dgm:pt modelId="{6235013D-493C-43F4-9915-51599460317B}" type="pres">
      <dgm:prSet presAssocID="{DC2BCCBF-192A-4130-A319-42126374DECD}" presName="desTx" presStyleLbl="node1" presStyleIdx="0" presStyleCnt="4">
        <dgm:presLayoutVars>
          <dgm:bulletEnabled val="1"/>
        </dgm:presLayoutVars>
      </dgm:prSet>
      <dgm:spPr/>
    </dgm:pt>
    <dgm:pt modelId="{827F7DDB-DCAC-49D5-868D-5478933F0090}" type="pres">
      <dgm:prSet presAssocID="{C693B3E8-03F0-4037-884B-5DF79581BB31}" presName="spV" presStyleCnt="0"/>
      <dgm:spPr/>
    </dgm:pt>
    <dgm:pt modelId="{247EC025-709E-4609-9376-5713CCE58C0E}" type="pres">
      <dgm:prSet presAssocID="{CA125154-C39B-44E7-A379-553712BD971D}" presName="linNode" presStyleCnt="0"/>
      <dgm:spPr/>
    </dgm:pt>
    <dgm:pt modelId="{1889E1D2-635A-4350-8B23-44F2019F0CA5}" type="pres">
      <dgm:prSet presAssocID="{CA125154-C39B-44E7-A379-553712BD971D}" presName="parTx" presStyleLbl="revTx" presStyleIdx="1" presStyleCnt="4">
        <dgm:presLayoutVars>
          <dgm:chMax val="1"/>
          <dgm:bulletEnabled val="1"/>
        </dgm:presLayoutVars>
      </dgm:prSet>
      <dgm:spPr/>
    </dgm:pt>
    <dgm:pt modelId="{39A8B3FF-2C33-4AC3-BA16-469F6228FE73}" type="pres">
      <dgm:prSet presAssocID="{CA125154-C39B-44E7-A379-553712BD971D}" presName="bracket" presStyleLbl="parChTrans1D1" presStyleIdx="1" presStyleCnt="4"/>
      <dgm:spPr/>
    </dgm:pt>
    <dgm:pt modelId="{2AFF7903-2679-44BF-B0AB-3BC1C631728B}" type="pres">
      <dgm:prSet presAssocID="{CA125154-C39B-44E7-A379-553712BD971D}" presName="spH" presStyleCnt="0"/>
      <dgm:spPr/>
    </dgm:pt>
    <dgm:pt modelId="{D8AF38E3-9D0C-4214-ABF9-585A856D4207}" type="pres">
      <dgm:prSet presAssocID="{CA125154-C39B-44E7-A379-553712BD971D}" presName="desTx" presStyleLbl="node1" presStyleIdx="1" presStyleCnt="4">
        <dgm:presLayoutVars>
          <dgm:bulletEnabled val="1"/>
        </dgm:presLayoutVars>
      </dgm:prSet>
      <dgm:spPr/>
    </dgm:pt>
    <dgm:pt modelId="{0C3CA266-F27E-4067-B9C8-527BD73481B8}" type="pres">
      <dgm:prSet presAssocID="{7298C21D-8BA7-4433-A1C6-9C7BC0400C8D}" presName="spV" presStyleCnt="0"/>
      <dgm:spPr/>
    </dgm:pt>
    <dgm:pt modelId="{DCCADEE7-70A7-45AB-9597-C822E23FFB99}" type="pres">
      <dgm:prSet presAssocID="{D5674275-8153-451C-88EC-5C90390A2BE3}" presName="linNode" presStyleCnt="0"/>
      <dgm:spPr/>
    </dgm:pt>
    <dgm:pt modelId="{7E907A86-3E1A-42B5-8D5A-A1D2F79DAA9F}" type="pres">
      <dgm:prSet presAssocID="{D5674275-8153-451C-88EC-5C90390A2BE3}" presName="parTx" presStyleLbl="revTx" presStyleIdx="2" presStyleCnt="4">
        <dgm:presLayoutVars>
          <dgm:chMax val="1"/>
          <dgm:bulletEnabled val="1"/>
        </dgm:presLayoutVars>
      </dgm:prSet>
      <dgm:spPr/>
    </dgm:pt>
    <dgm:pt modelId="{EA374687-D33E-4A53-B400-6E736BDF4423}" type="pres">
      <dgm:prSet presAssocID="{D5674275-8153-451C-88EC-5C90390A2BE3}" presName="bracket" presStyleLbl="parChTrans1D1" presStyleIdx="2" presStyleCnt="4"/>
      <dgm:spPr/>
    </dgm:pt>
    <dgm:pt modelId="{A4CF2E44-01F8-4122-A66C-E3B201098F44}" type="pres">
      <dgm:prSet presAssocID="{D5674275-8153-451C-88EC-5C90390A2BE3}" presName="spH" presStyleCnt="0"/>
      <dgm:spPr/>
    </dgm:pt>
    <dgm:pt modelId="{4EC55604-450C-4C88-9F40-1EEC449B4434}" type="pres">
      <dgm:prSet presAssocID="{D5674275-8153-451C-88EC-5C90390A2BE3}" presName="desTx" presStyleLbl="node1" presStyleIdx="2" presStyleCnt="4">
        <dgm:presLayoutVars>
          <dgm:bulletEnabled val="1"/>
        </dgm:presLayoutVars>
      </dgm:prSet>
      <dgm:spPr/>
    </dgm:pt>
    <dgm:pt modelId="{538B065D-12E0-4320-A52D-17ECF30A8DCF}" type="pres">
      <dgm:prSet presAssocID="{63D22F80-FF7C-4E0B-8E28-FDB499783505}" presName="spV" presStyleCnt="0"/>
      <dgm:spPr/>
    </dgm:pt>
    <dgm:pt modelId="{82813873-FC9A-46F7-8292-8C3954B3E53A}" type="pres">
      <dgm:prSet presAssocID="{D869A34F-5856-4741-8C2F-506850D7123D}" presName="linNode" presStyleCnt="0"/>
      <dgm:spPr/>
    </dgm:pt>
    <dgm:pt modelId="{B1A3E4B4-AF9E-4711-8489-E19C6194D75D}" type="pres">
      <dgm:prSet presAssocID="{D869A34F-5856-4741-8C2F-506850D7123D}" presName="parTx" presStyleLbl="revTx" presStyleIdx="3" presStyleCnt="4">
        <dgm:presLayoutVars>
          <dgm:chMax val="1"/>
          <dgm:bulletEnabled val="1"/>
        </dgm:presLayoutVars>
      </dgm:prSet>
      <dgm:spPr/>
    </dgm:pt>
    <dgm:pt modelId="{2F3DDD0B-F3C7-4B51-AC52-FC7AF72A33A1}" type="pres">
      <dgm:prSet presAssocID="{D869A34F-5856-4741-8C2F-506850D7123D}" presName="bracket" presStyleLbl="parChTrans1D1" presStyleIdx="3" presStyleCnt="4"/>
      <dgm:spPr/>
    </dgm:pt>
    <dgm:pt modelId="{0F0FEB43-3CA8-4097-AE97-8CDD5B2A1CA8}" type="pres">
      <dgm:prSet presAssocID="{D869A34F-5856-4741-8C2F-506850D7123D}" presName="spH" presStyleCnt="0"/>
      <dgm:spPr/>
    </dgm:pt>
    <dgm:pt modelId="{39B27435-5934-4E7A-9777-845651AC1B28}" type="pres">
      <dgm:prSet presAssocID="{D869A34F-5856-4741-8C2F-506850D7123D}" presName="desTx" presStyleLbl="node1" presStyleIdx="3" presStyleCnt="4">
        <dgm:presLayoutVars>
          <dgm:bulletEnabled val="1"/>
        </dgm:presLayoutVars>
      </dgm:prSet>
      <dgm:spPr/>
    </dgm:pt>
  </dgm:ptLst>
  <dgm:cxnLst>
    <dgm:cxn modelId="{7A018639-F85C-442B-8B57-4FCF94F74CC3}" type="presOf" srcId="{B85C5AB7-D841-4746-B497-82E630253B1E}" destId="{4EC55604-450C-4C88-9F40-1EEC449B4434}" srcOrd="0" destOrd="0" presId="urn:diagrams.loki3.com/BracketList"/>
    <dgm:cxn modelId="{1D7A655C-E1A2-4BB1-B899-3D3DAB0E78D9}" type="presOf" srcId="{DC2BCCBF-192A-4130-A319-42126374DECD}" destId="{95316838-1619-4AB8-922E-A0F90AE3CE91}" srcOrd="0" destOrd="0" presId="urn:diagrams.loki3.com/BracketList"/>
    <dgm:cxn modelId="{5BACF45D-4DE0-4DCC-80EB-8DB62B111B48}" srcId="{D5674275-8153-451C-88EC-5C90390A2BE3}" destId="{B85C5AB7-D841-4746-B497-82E630253B1E}" srcOrd="0" destOrd="0" parTransId="{ACCBBE74-2CE3-4927-AFDB-E5A8FE3C23CE}" sibTransId="{29DF42A7-21BD-4061-AA04-4528AC19AA0D}"/>
    <dgm:cxn modelId="{C39CFB5E-B2B9-4AD9-80D1-96F702295336}" type="presOf" srcId="{F5DF27D9-9798-47FF-B46E-F79A74132FC1}" destId="{6235013D-493C-43F4-9915-51599460317B}" srcOrd="0" destOrd="0" presId="urn:diagrams.loki3.com/BracketList"/>
    <dgm:cxn modelId="{A42E3647-53FD-4429-8013-4CF7F6C1DD52}" srcId="{F6341866-C117-4EE0-BCAF-3F67ACBA72D3}" destId="{D5674275-8153-451C-88EC-5C90390A2BE3}" srcOrd="2" destOrd="0" parTransId="{92BC7363-AE96-4BDA-BEA2-34772972CEFA}" sibTransId="{63D22F80-FF7C-4E0B-8E28-FDB499783505}"/>
    <dgm:cxn modelId="{E0042068-7B76-41D2-8A27-6E93EC6F6EAC}" type="presOf" srcId="{D869A34F-5856-4741-8C2F-506850D7123D}" destId="{B1A3E4B4-AF9E-4711-8489-E19C6194D75D}" srcOrd="0" destOrd="0" presId="urn:diagrams.loki3.com/BracketList"/>
    <dgm:cxn modelId="{9BCB4069-9BDE-4D86-BA7E-C9DBF27BDD35}" type="presOf" srcId="{0FEE2E41-E9CE-43DA-B1EB-25E2507C13FA}" destId="{39B27435-5934-4E7A-9777-845651AC1B28}" srcOrd="0" destOrd="0" presId="urn:diagrams.loki3.com/BracketList"/>
    <dgm:cxn modelId="{56625050-53C6-4B0A-B69D-D68055CDCE94}" type="presOf" srcId="{CA125154-C39B-44E7-A379-553712BD971D}" destId="{1889E1D2-635A-4350-8B23-44F2019F0CA5}" srcOrd="0" destOrd="0" presId="urn:diagrams.loki3.com/BracketList"/>
    <dgm:cxn modelId="{3BDDB877-4F5D-4408-B56D-72C49BA6400D}" type="presOf" srcId="{E7E3BA7C-2A8E-4D27-803D-53B763D0E694}" destId="{D8AF38E3-9D0C-4214-ABF9-585A856D4207}" srcOrd="0" destOrd="0" presId="urn:diagrams.loki3.com/BracketList"/>
    <dgm:cxn modelId="{F12F5F88-D3D8-4618-A96F-F77FC74359C3}" srcId="{F6341866-C117-4EE0-BCAF-3F67ACBA72D3}" destId="{DC2BCCBF-192A-4130-A319-42126374DECD}" srcOrd="0" destOrd="0" parTransId="{5705AED5-D442-4978-AC86-785B15BD29DC}" sibTransId="{C693B3E8-03F0-4037-884B-5DF79581BB31}"/>
    <dgm:cxn modelId="{27ABD094-FAF7-4785-8611-6B9BDD385B4F}" srcId="{D869A34F-5856-4741-8C2F-506850D7123D}" destId="{0FEE2E41-E9CE-43DA-B1EB-25E2507C13FA}" srcOrd="0" destOrd="0" parTransId="{EDEE4B8A-620B-4F57-B90F-D93C1D6CB8AC}" sibTransId="{167D034E-8A50-45F4-B035-19B7736FF219}"/>
    <dgm:cxn modelId="{C7A7CDC7-E571-4056-9A8F-CCC0755A29E6}" srcId="{DC2BCCBF-192A-4130-A319-42126374DECD}" destId="{F5DF27D9-9798-47FF-B46E-F79A74132FC1}" srcOrd="0" destOrd="0" parTransId="{092D559A-8F72-4606-B483-9F791F68F9F7}" sibTransId="{4F198059-258A-4AE0-B564-1E5340F713A5}"/>
    <dgm:cxn modelId="{928E66E5-8B7C-4DD6-9B1A-757BD89BE1E9}" srcId="{F6341866-C117-4EE0-BCAF-3F67ACBA72D3}" destId="{D869A34F-5856-4741-8C2F-506850D7123D}" srcOrd="3" destOrd="0" parTransId="{69ED413D-88B2-4AFD-B66E-7A979C238786}" sibTransId="{71152F98-F938-4036-8420-F54AA1EF1C17}"/>
    <dgm:cxn modelId="{61BC55EA-2842-44F5-BF67-4EC92077BC8B}" type="presOf" srcId="{F6341866-C117-4EE0-BCAF-3F67ACBA72D3}" destId="{C9F92D73-1832-45B4-B667-1779AA1795B2}" srcOrd="0" destOrd="0" presId="urn:diagrams.loki3.com/BracketList"/>
    <dgm:cxn modelId="{B6A328EE-8D1B-4728-93EA-4EA089C57AC1}" srcId="{CA125154-C39B-44E7-A379-553712BD971D}" destId="{E7E3BA7C-2A8E-4D27-803D-53B763D0E694}" srcOrd="0" destOrd="0" parTransId="{5C4C97FB-C75C-4767-98F5-5767203EF82C}" sibTransId="{59226619-F9B1-47E6-B2DC-2462860D6F73}"/>
    <dgm:cxn modelId="{944D7BEF-945D-4FEF-9AE7-7E2016CFD246}" type="presOf" srcId="{D5674275-8153-451C-88EC-5C90390A2BE3}" destId="{7E907A86-3E1A-42B5-8D5A-A1D2F79DAA9F}" srcOrd="0" destOrd="0" presId="urn:diagrams.loki3.com/BracketList"/>
    <dgm:cxn modelId="{305AD3F8-8157-4E1A-B987-F90C55F46CD9}" srcId="{F6341866-C117-4EE0-BCAF-3F67ACBA72D3}" destId="{CA125154-C39B-44E7-A379-553712BD971D}" srcOrd="1" destOrd="0" parTransId="{7B78C393-BB9B-4F88-B183-F474A0B40238}" sibTransId="{7298C21D-8BA7-4433-A1C6-9C7BC0400C8D}"/>
    <dgm:cxn modelId="{689D4520-B4D8-4159-8783-F6EE11FFC36A}" type="presParOf" srcId="{C9F92D73-1832-45B4-B667-1779AA1795B2}" destId="{C0B175B4-A394-498C-8C17-06C435B6F474}" srcOrd="0" destOrd="0" presId="urn:diagrams.loki3.com/BracketList"/>
    <dgm:cxn modelId="{877B838F-8652-4DB5-97BF-551C05B2CB56}" type="presParOf" srcId="{C0B175B4-A394-498C-8C17-06C435B6F474}" destId="{95316838-1619-4AB8-922E-A0F90AE3CE91}" srcOrd="0" destOrd="0" presId="urn:diagrams.loki3.com/BracketList"/>
    <dgm:cxn modelId="{F236FAA5-0564-4242-A940-986ECADE4D63}" type="presParOf" srcId="{C0B175B4-A394-498C-8C17-06C435B6F474}" destId="{5C8F8ED3-CF8B-4AE8-8AF0-77D03F15AFD3}" srcOrd="1" destOrd="0" presId="urn:diagrams.loki3.com/BracketList"/>
    <dgm:cxn modelId="{C23C436A-F554-4521-B3CA-E59749EE9BC1}" type="presParOf" srcId="{C0B175B4-A394-498C-8C17-06C435B6F474}" destId="{0AA14740-2E9F-4FB7-952B-7C1DF0603A61}" srcOrd="2" destOrd="0" presId="urn:diagrams.loki3.com/BracketList"/>
    <dgm:cxn modelId="{24C4C7E6-72E8-40CC-AC9B-FBC6E5C7A9ED}" type="presParOf" srcId="{C0B175B4-A394-498C-8C17-06C435B6F474}" destId="{6235013D-493C-43F4-9915-51599460317B}" srcOrd="3" destOrd="0" presId="urn:diagrams.loki3.com/BracketList"/>
    <dgm:cxn modelId="{F7C19E13-D5F5-466E-89AB-CC375011B1E6}" type="presParOf" srcId="{C9F92D73-1832-45B4-B667-1779AA1795B2}" destId="{827F7DDB-DCAC-49D5-868D-5478933F0090}" srcOrd="1" destOrd="0" presId="urn:diagrams.loki3.com/BracketList"/>
    <dgm:cxn modelId="{2C74C79D-0828-41A9-BB13-5CBA331C119A}" type="presParOf" srcId="{C9F92D73-1832-45B4-B667-1779AA1795B2}" destId="{247EC025-709E-4609-9376-5713CCE58C0E}" srcOrd="2" destOrd="0" presId="urn:diagrams.loki3.com/BracketList"/>
    <dgm:cxn modelId="{544334E4-ED4F-4478-8983-86D43774EA8F}" type="presParOf" srcId="{247EC025-709E-4609-9376-5713CCE58C0E}" destId="{1889E1D2-635A-4350-8B23-44F2019F0CA5}" srcOrd="0" destOrd="0" presId="urn:diagrams.loki3.com/BracketList"/>
    <dgm:cxn modelId="{EE6E3EFC-0762-4B57-9300-F0C3267001B7}" type="presParOf" srcId="{247EC025-709E-4609-9376-5713CCE58C0E}" destId="{39A8B3FF-2C33-4AC3-BA16-469F6228FE73}" srcOrd="1" destOrd="0" presId="urn:diagrams.loki3.com/BracketList"/>
    <dgm:cxn modelId="{3C4DD5AE-6770-438B-A3AF-8765E1672DAB}" type="presParOf" srcId="{247EC025-709E-4609-9376-5713CCE58C0E}" destId="{2AFF7903-2679-44BF-B0AB-3BC1C631728B}" srcOrd="2" destOrd="0" presId="urn:diagrams.loki3.com/BracketList"/>
    <dgm:cxn modelId="{0BEA4408-A7A4-47D8-BE92-0FD3F6078CE3}" type="presParOf" srcId="{247EC025-709E-4609-9376-5713CCE58C0E}" destId="{D8AF38E3-9D0C-4214-ABF9-585A856D4207}" srcOrd="3" destOrd="0" presId="urn:diagrams.loki3.com/BracketList"/>
    <dgm:cxn modelId="{1BEC8F1D-99BF-4D7B-8921-252311D001E0}" type="presParOf" srcId="{C9F92D73-1832-45B4-B667-1779AA1795B2}" destId="{0C3CA266-F27E-4067-B9C8-527BD73481B8}" srcOrd="3" destOrd="0" presId="urn:diagrams.loki3.com/BracketList"/>
    <dgm:cxn modelId="{D246EBBE-32FF-411A-983D-003337343164}" type="presParOf" srcId="{C9F92D73-1832-45B4-B667-1779AA1795B2}" destId="{DCCADEE7-70A7-45AB-9597-C822E23FFB99}" srcOrd="4" destOrd="0" presId="urn:diagrams.loki3.com/BracketList"/>
    <dgm:cxn modelId="{45521B64-4D40-421A-A8B6-A5901C58E7DB}" type="presParOf" srcId="{DCCADEE7-70A7-45AB-9597-C822E23FFB99}" destId="{7E907A86-3E1A-42B5-8D5A-A1D2F79DAA9F}" srcOrd="0" destOrd="0" presId="urn:diagrams.loki3.com/BracketList"/>
    <dgm:cxn modelId="{F825A890-8DBB-4C80-BA13-5264E95B82F0}" type="presParOf" srcId="{DCCADEE7-70A7-45AB-9597-C822E23FFB99}" destId="{EA374687-D33E-4A53-B400-6E736BDF4423}" srcOrd="1" destOrd="0" presId="urn:diagrams.loki3.com/BracketList"/>
    <dgm:cxn modelId="{3D595525-8A40-45CE-A945-4E14C6AA1350}" type="presParOf" srcId="{DCCADEE7-70A7-45AB-9597-C822E23FFB99}" destId="{A4CF2E44-01F8-4122-A66C-E3B201098F44}" srcOrd="2" destOrd="0" presId="urn:diagrams.loki3.com/BracketList"/>
    <dgm:cxn modelId="{82F3485E-E260-44B4-AC5E-89D2E4730F2F}" type="presParOf" srcId="{DCCADEE7-70A7-45AB-9597-C822E23FFB99}" destId="{4EC55604-450C-4C88-9F40-1EEC449B4434}" srcOrd="3" destOrd="0" presId="urn:diagrams.loki3.com/BracketList"/>
    <dgm:cxn modelId="{328B7F31-990B-4757-A295-768AECE892FB}" type="presParOf" srcId="{C9F92D73-1832-45B4-B667-1779AA1795B2}" destId="{538B065D-12E0-4320-A52D-17ECF30A8DCF}" srcOrd="5" destOrd="0" presId="urn:diagrams.loki3.com/BracketList"/>
    <dgm:cxn modelId="{ACA9CD2F-59F5-431D-B7EB-5EAF48773959}" type="presParOf" srcId="{C9F92D73-1832-45B4-B667-1779AA1795B2}" destId="{82813873-FC9A-46F7-8292-8C3954B3E53A}" srcOrd="6" destOrd="0" presId="urn:diagrams.loki3.com/BracketList"/>
    <dgm:cxn modelId="{77CC5340-F995-4CAA-B539-96557A5CD9FE}" type="presParOf" srcId="{82813873-FC9A-46F7-8292-8C3954B3E53A}" destId="{B1A3E4B4-AF9E-4711-8489-E19C6194D75D}" srcOrd="0" destOrd="0" presId="urn:diagrams.loki3.com/BracketList"/>
    <dgm:cxn modelId="{18105BBE-37C6-4454-94DF-966EB30B91AE}" type="presParOf" srcId="{82813873-FC9A-46F7-8292-8C3954B3E53A}" destId="{2F3DDD0B-F3C7-4B51-AC52-FC7AF72A33A1}" srcOrd="1" destOrd="0" presId="urn:diagrams.loki3.com/BracketList"/>
    <dgm:cxn modelId="{4DF72941-B46D-4AD5-B694-3B5EC1FC21CA}" type="presParOf" srcId="{82813873-FC9A-46F7-8292-8C3954B3E53A}" destId="{0F0FEB43-3CA8-4097-AE97-8CDD5B2A1CA8}" srcOrd="2" destOrd="0" presId="urn:diagrams.loki3.com/BracketList"/>
    <dgm:cxn modelId="{18D0ABC0-2AA8-424C-942B-6C217ED756FE}" type="presParOf" srcId="{82813873-FC9A-46F7-8292-8C3954B3E53A}" destId="{39B27435-5934-4E7A-9777-845651AC1B28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051438D-F293-4526-B1A2-8E846B074DB5}" type="doc">
      <dgm:prSet loTypeId="urn:microsoft.com/office/officeart/2009/3/layout/StepUp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086126DF-92B7-4FAA-B595-3179F6B8E311}">
      <dgm:prSet phldrT="[Text]"/>
      <dgm:spPr/>
      <dgm:t>
        <a:bodyPr/>
        <a:lstStyle/>
        <a:p>
          <a:pPr>
            <a:buNone/>
          </a:pPr>
          <a:r>
            <a:rPr lang="en-IN" b="1" i="0" dirty="0"/>
            <a:t>Data Ingestion &amp; Storage</a:t>
          </a:r>
          <a:endParaRPr lang="en-IN" dirty="0"/>
        </a:p>
      </dgm:t>
    </dgm:pt>
    <dgm:pt modelId="{A3FD8738-4EDF-4BEC-987B-09D2CABCCA5B}" type="parTrans" cxnId="{51574205-AA09-46A5-AFA2-CB96779C30AE}">
      <dgm:prSet/>
      <dgm:spPr/>
      <dgm:t>
        <a:bodyPr/>
        <a:lstStyle/>
        <a:p>
          <a:endParaRPr lang="en-IN"/>
        </a:p>
      </dgm:t>
    </dgm:pt>
    <dgm:pt modelId="{64929ADE-9E5D-4231-B396-D90A1A684A15}" type="sibTrans" cxnId="{51574205-AA09-46A5-AFA2-CB96779C30AE}">
      <dgm:prSet/>
      <dgm:spPr/>
      <dgm:t>
        <a:bodyPr/>
        <a:lstStyle/>
        <a:p>
          <a:endParaRPr lang="en-IN"/>
        </a:p>
      </dgm:t>
    </dgm:pt>
    <dgm:pt modelId="{F86A2AFA-8301-42F9-960C-05349CA90B7F}">
      <dgm:prSet phldrT="[Text]"/>
      <dgm:spPr/>
      <dgm:t>
        <a:bodyPr/>
        <a:lstStyle/>
        <a:p>
          <a:pPr>
            <a:buNone/>
          </a:pPr>
          <a:r>
            <a:rPr lang="en-IN" b="1" i="0" dirty="0"/>
            <a:t>Analytics &amp; Fraud Detection Engine</a:t>
          </a:r>
          <a:endParaRPr lang="en-IN" dirty="0"/>
        </a:p>
      </dgm:t>
    </dgm:pt>
    <dgm:pt modelId="{5A48610D-F22E-47EA-B4AD-AB6302581DC0}" type="parTrans" cxnId="{E7B50013-E97C-489B-B33E-13E06B537FA8}">
      <dgm:prSet/>
      <dgm:spPr/>
      <dgm:t>
        <a:bodyPr/>
        <a:lstStyle/>
        <a:p>
          <a:endParaRPr lang="en-IN"/>
        </a:p>
      </dgm:t>
    </dgm:pt>
    <dgm:pt modelId="{FB692541-6D7B-4655-9A74-C7A7DD161F6F}" type="sibTrans" cxnId="{E7B50013-E97C-489B-B33E-13E06B537FA8}">
      <dgm:prSet/>
      <dgm:spPr/>
      <dgm:t>
        <a:bodyPr/>
        <a:lstStyle/>
        <a:p>
          <a:endParaRPr lang="en-IN"/>
        </a:p>
      </dgm:t>
    </dgm:pt>
    <dgm:pt modelId="{54A1BB27-11C9-4305-9671-11D2724F4CF6}">
      <dgm:prSet phldrT="[Text]"/>
      <dgm:spPr/>
      <dgm:t>
        <a:bodyPr/>
        <a:lstStyle/>
        <a:p>
          <a:pPr>
            <a:buNone/>
          </a:pPr>
          <a:r>
            <a:rPr lang="en-IN" b="1" i="0" dirty="0"/>
            <a:t>Secure Transaction &amp; BI Interface</a:t>
          </a:r>
          <a:endParaRPr lang="en-IN" dirty="0"/>
        </a:p>
      </dgm:t>
    </dgm:pt>
    <dgm:pt modelId="{D9BE1063-8F0C-4EC7-86B5-B39525EA7221}" type="parTrans" cxnId="{9819DB45-59BA-4C28-9764-37706E0AE075}">
      <dgm:prSet/>
      <dgm:spPr/>
      <dgm:t>
        <a:bodyPr/>
        <a:lstStyle/>
        <a:p>
          <a:endParaRPr lang="en-IN"/>
        </a:p>
      </dgm:t>
    </dgm:pt>
    <dgm:pt modelId="{90CDEFAF-5EC5-45E3-9D0D-01019D8E6A8E}" type="sibTrans" cxnId="{9819DB45-59BA-4C28-9764-37706E0AE075}">
      <dgm:prSet/>
      <dgm:spPr/>
      <dgm:t>
        <a:bodyPr/>
        <a:lstStyle/>
        <a:p>
          <a:endParaRPr lang="en-IN"/>
        </a:p>
      </dgm:t>
    </dgm:pt>
    <dgm:pt modelId="{05F4D690-6808-4BB2-A965-870323858B69}">
      <dgm:prSet phldrT="[Text]"/>
      <dgm:spPr/>
      <dgm:t>
        <a:bodyPr/>
        <a:lstStyle/>
        <a:p>
          <a:pPr>
            <a:buNone/>
          </a:pPr>
          <a:r>
            <a:rPr lang="en-US" b="0" i="0"/>
            <a:t>Converts raw banking CSV files into normalized SQL tables and keeps them query‑ready for analytics.</a:t>
          </a:r>
          <a:endParaRPr lang="en-IN"/>
        </a:p>
      </dgm:t>
    </dgm:pt>
    <dgm:pt modelId="{55CF0426-068A-4E43-86BC-5D03738612D7}" type="parTrans" cxnId="{147CD76A-A73D-419E-A22C-94BBF9C4544C}">
      <dgm:prSet/>
      <dgm:spPr/>
      <dgm:t>
        <a:bodyPr/>
        <a:lstStyle/>
        <a:p>
          <a:endParaRPr lang="en-IN"/>
        </a:p>
      </dgm:t>
    </dgm:pt>
    <dgm:pt modelId="{91739C66-CC47-43AE-A46C-2A7F6DD53AD2}" type="sibTrans" cxnId="{147CD76A-A73D-419E-A22C-94BBF9C4544C}">
      <dgm:prSet/>
      <dgm:spPr/>
      <dgm:t>
        <a:bodyPr/>
        <a:lstStyle/>
        <a:p>
          <a:endParaRPr lang="en-IN"/>
        </a:p>
      </dgm:t>
    </dgm:pt>
    <dgm:pt modelId="{ED47F5A1-53EC-479A-BB38-E7B163CF7949}">
      <dgm:prSet phldrT="[Text]"/>
      <dgm:spPr/>
      <dgm:t>
        <a:bodyPr/>
        <a:lstStyle/>
        <a:p>
          <a:pPr>
            <a:buNone/>
          </a:pPr>
          <a:r>
            <a:rPr lang="en-US" b="0" i="0"/>
            <a:t>Runs statistical profiling, visual analytics, and rule‑based fraud checks on transactions.</a:t>
          </a:r>
          <a:endParaRPr lang="en-IN" dirty="0"/>
        </a:p>
      </dgm:t>
    </dgm:pt>
    <dgm:pt modelId="{CEB40E5D-B502-47FD-9FF3-55AFF9B18A21}" type="parTrans" cxnId="{E3E9DF8D-F3BA-4822-9073-CC4705E7DE6A}">
      <dgm:prSet/>
      <dgm:spPr/>
      <dgm:t>
        <a:bodyPr/>
        <a:lstStyle/>
        <a:p>
          <a:endParaRPr lang="en-IN"/>
        </a:p>
      </dgm:t>
    </dgm:pt>
    <dgm:pt modelId="{28BBDA7F-0948-4877-AE96-502963282C81}" type="sibTrans" cxnId="{E3E9DF8D-F3BA-4822-9073-CC4705E7DE6A}">
      <dgm:prSet/>
      <dgm:spPr/>
      <dgm:t>
        <a:bodyPr/>
        <a:lstStyle/>
        <a:p>
          <a:endParaRPr lang="en-IN"/>
        </a:p>
      </dgm:t>
    </dgm:pt>
    <dgm:pt modelId="{6A8535AD-B26D-4102-9862-D763AC4030CB}">
      <dgm:prSet phldrT="[Text]"/>
      <dgm:spPr/>
      <dgm:t>
        <a:bodyPr/>
        <a:lstStyle/>
        <a:p>
          <a:pPr>
            <a:buNone/>
          </a:pPr>
          <a:r>
            <a:rPr lang="en-US" b="0" i="0"/>
            <a:t>Streamlit web app providing secure transfers, loan workflows, and admin/customer dashboards.</a:t>
          </a:r>
          <a:endParaRPr lang="en-IN" dirty="0"/>
        </a:p>
      </dgm:t>
    </dgm:pt>
    <dgm:pt modelId="{92BDDA3F-4E9A-43FC-90D1-7B5AFAF067AC}" type="parTrans" cxnId="{0069C2AC-BEF3-4950-9CBC-510794FF544B}">
      <dgm:prSet/>
      <dgm:spPr/>
      <dgm:t>
        <a:bodyPr/>
        <a:lstStyle/>
        <a:p>
          <a:endParaRPr lang="en-IN"/>
        </a:p>
      </dgm:t>
    </dgm:pt>
    <dgm:pt modelId="{46DB69ED-CD48-40F7-8F8D-2C51B661AC7B}" type="sibTrans" cxnId="{0069C2AC-BEF3-4950-9CBC-510794FF544B}">
      <dgm:prSet/>
      <dgm:spPr/>
      <dgm:t>
        <a:bodyPr/>
        <a:lstStyle/>
        <a:p>
          <a:endParaRPr lang="en-IN"/>
        </a:p>
      </dgm:t>
    </dgm:pt>
    <dgm:pt modelId="{C246D522-4F33-4E4B-B81A-B79D24CFB19D}" type="pres">
      <dgm:prSet presAssocID="{A051438D-F293-4526-B1A2-8E846B074DB5}" presName="rootnode" presStyleCnt="0">
        <dgm:presLayoutVars>
          <dgm:chMax/>
          <dgm:chPref/>
          <dgm:dir/>
          <dgm:animLvl val="lvl"/>
        </dgm:presLayoutVars>
      </dgm:prSet>
      <dgm:spPr/>
    </dgm:pt>
    <dgm:pt modelId="{D836F98D-3D9B-43C6-A38C-0DA650E78382}" type="pres">
      <dgm:prSet presAssocID="{086126DF-92B7-4FAA-B595-3179F6B8E311}" presName="composite" presStyleCnt="0"/>
      <dgm:spPr/>
    </dgm:pt>
    <dgm:pt modelId="{1B7CC7D4-5947-40AC-B959-A4FE452E4D10}" type="pres">
      <dgm:prSet presAssocID="{086126DF-92B7-4FAA-B595-3179F6B8E311}" presName="LShape" presStyleLbl="alignNode1" presStyleIdx="0" presStyleCnt="5"/>
      <dgm:spPr/>
    </dgm:pt>
    <dgm:pt modelId="{8D15397A-9C9A-4F24-BAD3-59C17B1E9601}" type="pres">
      <dgm:prSet presAssocID="{086126DF-92B7-4FAA-B595-3179F6B8E311}" presName="ParentText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3D10F29A-8391-4C6A-8638-246BC9AE8984}" type="pres">
      <dgm:prSet presAssocID="{086126DF-92B7-4FAA-B595-3179F6B8E311}" presName="Triangle" presStyleLbl="alignNode1" presStyleIdx="1" presStyleCnt="5"/>
      <dgm:spPr/>
    </dgm:pt>
    <dgm:pt modelId="{EE82AF5B-D210-4718-99BE-188DDD38D92F}" type="pres">
      <dgm:prSet presAssocID="{64929ADE-9E5D-4231-B396-D90A1A684A15}" presName="sibTrans" presStyleCnt="0"/>
      <dgm:spPr/>
    </dgm:pt>
    <dgm:pt modelId="{C00687E0-0D2C-4734-93C6-64FE8F774D50}" type="pres">
      <dgm:prSet presAssocID="{64929ADE-9E5D-4231-B396-D90A1A684A15}" presName="space" presStyleCnt="0"/>
      <dgm:spPr/>
    </dgm:pt>
    <dgm:pt modelId="{632EE1CD-E767-435D-BEDE-9ECAA5023683}" type="pres">
      <dgm:prSet presAssocID="{F86A2AFA-8301-42F9-960C-05349CA90B7F}" presName="composite" presStyleCnt="0"/>
      <dgm:spPr/>
    </dgm:pt>
    <dgm:pt modelId="{96A57DCB-AAA1-4DCE-A157-8F6A24DBB737}" type="pres">
      <dgm:prSet presAssocID="{F86A2AFA-8301-42F9-960C-05349CA90B7F}" presName="LShape" presStyleLbl="alignNode1" presStyleIdx="2" presStyleCnt="5"/>
      <dgm:spPr/>
    </dgm:pt>
    <dgm:pt modelId="{1E6F343C-1117-4470-9B49-19F2A9C457F6}" type="pres">
      <dgm:prSet presAssocID="{F86A2AFA-8301-42F9-960C-05349CA90B7F}" presName="ParentText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76BBAE0D-1C67-4C36-B538-1C990055C4A6}" type="pres">
      <dgm:prSet presAssocID="{F86A2AFA-8301-42F9-960C-05349CA90B7F}" presName="Triangle" presStyleLbl="alignNode1" presStyleIdx="3" presStyleCnt="5"/>
      <dgm:spPr/>
    </dgm:pt>
    <dgm:pt modelId="{AFC1E43A-79FE-423C-B257-D27BC414C58E}" type="pres">
      <dgm:prSet presAssocID="{FB692541-6D7B-4655-9A74-C7A7DD161F6F}" presName="sibTrans" presStyleCnt="0"/>
      <dgm:spPr/>
    </dgm:pt>
    <dgm:pt modelId="{4C8DB850-1003-4E92-9F5F-B2EC13BA6B3C}" type="pres">
      <dgm:prSet presAssocID="{FB692541-6D7B-4655-9A74-C7A7DD161F6F}" presName="space" presStyleCnt="0"/>
      <dgm:spPr/>
    </dgm:pt>
    <dgm:pt modelId="{BC43DC75-8C26-4BA4-9DA1-4A49CEB72776}" type="pres">
      <dgm:prSet presAssocID="{54A1BB27-11C9-4305-9671-11D2724F4CF6}" presName="composite" presStyleCnt="0"/>
      <dgm:spPr/>
    </dgm:pt>
    <dgm:pt modelId="{6D6BA724-DA55-42B7-8DE1-0AE9C5B62084}" type="pres">
      <dgm:prSet presAssocID="{54A1BB27-11C9-4305-9671-11D2724F4CF6}" presName="LShape" presStyleLbl="alignNode1" presStyleIdx="4" presStyleCnt="5"/>
      <dgm:spPr/>
    </dgm:pt>
    <dgm:pt modelId="{A555557B-3C39-4D3E-A864-C11102545CD2}" type="pres">
      <dgm:prSet presAssocID="{54A1BB27-11C9-4305-9671-11D2724F4CF6}" presName="ParentText" presStyleLbl="revTx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5C3FB703-F994-462D-98CB-F39D6D1DF291}" type="presOf" srcId="{086126DF-92B7-4FAA-B595-3179F6B8E311}" destId="{8D15397A-9C9A-4F24-BAD3-59C17B1E9601}" srcOrd="0" destOrd="0" presId="urn:microsoft.com/office/officeart/2009/3/layout/StepUpProcess"/>
    <dgm:cxn modelId="{51574205-AA09-46A5-AFA2-CB96779C30AE}" srcId="{A051438D-F293-4526-B1A2-8E846B074DB5}" destId="{086126DF-92B7-4FAA-B595-3179F6B8E311}" srcOrd="0" destOrd="0" parTransId="{A3FD8738-4EDF-4BEC-987B-09D2CABCCA5B}" sibTransId="{64929ADE-9E5D-4231-B396-D90A1A684A15}"/>
    <dgm:cxn modelId="{D3A59B0A-9BC8-40F5-BD7D-0C884FAAB0F4}" type="presOf" srcId="{A051438D-F293-4526-B1A2-8E846B074DB5}" destId="{C246D522-4F33-4E4B-B81A-B79D24CFB19D}" srcOrd="0" destOrd="0" presId="urn:microsoft.com/office/officeart/2009/3/layout/StepUpProcess"/>
    <dgm:cxn modelId="{E7B50013-E97C-489B-B33E-13E06B537FA8}" srcId="{A051438D-F293-4526-B1A2-8E846B074DB5}" destId="{F86A2AFA-8301-42F9-960C-05349CA90B7F}" srcOrd="1" destOrd="0" parTransId="{5A48610D-F22E-47EA-B4AD-AB6302581DC0}" sibTransId="{FB692541-6D7B-4655-9A74-C7A7DD161F6F}"/>
    <dgm:cxn modelId="{600D3919-A79B-4906-ADC4-E64D24976626}" type="presOf" srcId="{ED47F5A1-53EC-479A-BB38-E7B163CF7949}" destId="{1E6F343C-1117-4470-9B49-19F2A9C457F6}" srcOrd="0" destOrd="1" presId="urn:microsoft.com/office/officeart/2009/3/layout/StepUpProcess"/>
    <dgm:cxn modelId="{9819DB45-59BA-4C28-9764-37706E0AE075}" srcId="{A051438D-F293-4526-B1A2-8E846B074DB5}" destId="{54A1BB27-11C9-4305-9671-11D2724F4CF6}" srcOrd="2" destOrd="0" parTransId="{D9BE1063-8F0C-4EC7-86B5-B39525EA7221}" sibTransId="{90CDEFAF-5EC5-45E3-9D0D-01019D8E6A8E}"/>
    <dgm:cxn modelId="{AFFC7A49-086F-47FB-8F06-385B68B6F49D}" type="presOf" srcId="{F86A2AFA-8301-42F9-960C-05349CA90B7F}" destId="{1E6F343C-1117-4470-9B49-19F2A9C457F6}" srcOrd="0" destOrd="0" presId="urn:microsoft.com/office/officeart/2009/3/layout/StepUpProcess"/>
    <dgm:cxn modelId="{147CD76A-A73D-419E-A22C-94BBF9C4544C}" srcId="{086126DF-92B7-4FAA-B595-3179F6B8E311}" destId="{05F4D690-6808-4BB2-A965-870323858B69}" srcOrd="0" destOrd="0" parTransId="{55CF0426-068A-4E43-86BC-5D03738612D7}" sibTransId="{91739C66-CC47-43AE-A46C-2A7F6DD53AD2}"/>
    <dgm:cxn modelId="{E3E9DF8D-F3BA-4822-9073-CC4705E7DE6A}" srcId="{F86A2AFA-8301-42F9-960C-05349CA90B7F}" destId="{ED47F5A1-53EC-479A-BB38-E7B163CF7949}" srcOrd="0" destOrd="0" parTransId="{CEB40E5D-B502-47FD-9FF3-55AFF9B18A21}" sibTransId="{28BBDA7F-0948-4877-AE96-502963282C81}"/>
    <dgm:cxn modelId="{F1E25597-05FB-4F6B-9F8D-C70B92DBA4E5}" type="presOf" srcId="{05F4D690-6808-4BB2-A965-870323858B69}" destId="{8D15397A-9C9A-4F24-BAD3-59C17B1E9601}" srcOrd="0" destOrd="1" presId="urn:microsoft.com/office/officeart/2009/3/layout/StepUpProcess"/>
    <dgm:cxn modelId="{0069C2AC-BEF3-4950-9CBC-510794FF544B}" srcId="{54A1BB27-11C9-4305-9671-11D2724F4CF6}" destId="{6A8535AD-B26D-4102-9862-D763AC4030CB}" srcOrd="0" destOrd="0" parTransId="{92BDDA3F-4E9A-43FC-90D1-7B5AFAF067AC}" sibTransId="{46DB69ED-CD48-40F7-8F8D-2C51B661AC7B}"/>
    <dgm:cxn modelId="{647D32E4-6F87-41A4-96B6-4C05DB7DD9CF}" type="presOf" srcId="{6A8535AD-B26D-4102-9862-D763AC4030CB}" destId="{A555557B-3C39-4D3E-A864-C11102545CD2}" srcOrd="0" destOrd="1" presId="urn:microsoft.com/office/officeart/2009/3/layout/StepUpProcess"/>
    <dgm:cxn modelId="{B31210E9-3B28-4B25-9285-B38539D81B56}" type="presOf" srcId="{54A1BB27-11C9-4305-9671-11D2724F4CF6}" destId="{A555557B-3C39-4D3E-A864-C11102545CD2}" srcOrd="0" destOrd="0" presId="urn:microsoft.com/office/officeart/2009/3/layout/StepUpProcess"/>
    <dgm:cxn modelId="{64F155A1-F01F-440B-9A2A-73F4094A5FF7}" type="presParOf" srcId="{C246D522-4F33-4E4B-B81A-B79D24CFB19D}" destId="{D836F98D-3D9B-43C6-A38C-0DA650E78382}" srcOrd="0" destOrd="0" presId="urn:microsoft.com/office/officeart/2009/3/layout/StepUpProcess"/>
    <dgm:cxn modelId="{F5D96250-27C7-40C0-B589-7D8EFC9A64D9}" type="presParOf" srcId="{D836F98D-3D9B-43C6-A38C-0DA650E78382}" destId="{1B7CC7D4-5947-40AC-B959-A4FE452E4D10}" srcOrd="0" destOrd="0" presId="urn:microsoft.com/office/officeart/2009/3/layout/StepUpProcess"/>
    <dgm:cxn modelId="{EFBD2D6A-F2FE-4811-82AD-94A039C2AF7F}" type="presParOf" srcId="{D836F98D-3D9B-43C6-A38C-0DA650E78382}" destId="{8D15397A-9C9A-4F24-BAD3-59C17B1E9601}" srcOrd="1" destOrd="0" presId="urn:microsoft.com/office/officeart/2009/3/layout/StepUpProcess"/>
    <dgm:cxn modelId="{7416FE40-37BF-4AFC-B5C9-8C016884A09C}" type="presParOf" srcId="{D836F98D-3D9B-43C6-A38C-0DA650E78382}" destId="{3D10F29A-8391-4C6A-8638-246BC9AE8984}" srcOrd="2" destOrd="0" presId="urn:microsoft.com/office/officeart/2009/3/layout/StepUpProcess"/>
    <dgm:cxn modelId="{1AEC6764-8F89-43AA-B5FF-72FC82D38FD4}" type="presParOf" srcId="{C246D522-4F33-4E4B-B81A-B79D24CFB19D}" destId="{EE82AF5B-D210-4718-99BE-188DDD38D92F}" srcOrd="1" destOrd="0" presId="urn:microsoft.com/office/officeart/2009/3/layout/StepUpProcess"/>
    <dgm:cxn modelId="{49B1FC65-1393-4928-88B9-D7AA443916C5}" type="presParOf" srcId="{EE82AF5B-D210-4718-99BE-188DDD38D92F}" destId="{C00687E0-0D2C-4734-93C6-64FE8F774D50}" srcOrd="0" destOrd="0" presId="urn:microsoft.com/office/officeart/2009/3/layout/StepUpProcess"/>
    <dgm:cxn modelId="{68114E47-A982-47AA-8BB5-EE0C4DD0876E}" type="presParOf" srcId="{C246D522-4F33-4E4B-B81A-B79D24CFB19D}" destId="{632EE1CD-E767-435D-BEDE-9ECAA5023683}" srcOrd="2" destOrd="0" presId="urn:microsoft.com/office/officeart/2009/3/layout/StepUpProcess"/>
    <dgm:cxn modelId="{E97C30A2-9690-47AA-84CE-781EA53D818A}" type="presParOf" srcId="{632EE1CD-E767-435D-BEDE-9ECAA5023683}" destId="{96A57DCB-AAA1-4DCE-A157-8F6A24DBB737}" srcOrd="0" destOrd="0" presId="urn:microsoft.com/office/officeart/2009/3/layout/StepUpProcess"/>
    <dgm:cxn modelId="{E4A2E358-5B38-4B22-9074-D5F96EE07FAF}" type="presParOf" srcId="{632EE1CD-E767-435D-BEDE-9ECAA5023683}" destId="{1E6F343C-1117-4470-9B49-19F2A9C457F6}" srcOrd="1" destOrd="0" presId="urn:microsoft.com/office/officeart/2009/3/layout/StepUpProcess"/>
    <dgm:cxn modelId="{5EA7D805-1E0F-49A4-A164-7BEC8E9D8FB4}" type="presParOf" srcId="{632EE1CD-E767-435D-BEDE-9ECAA5023683}" destId="{76BBAE0D-1C67-4C36-B538-1C990055C4A6}" srcOrd="2" destOrd="0" presId="urn:microsoft.com/office/officeart/2009/3/layout/StepUpProcess"/>
    <dgm:cxn modelId="{9969A626-2E76-4408-8526-7E88A223AD84}" type="presParOf" srcId="{C246D522-4F33-4E4B-B81A-B79D24CFB19D}" destId="{AFC1E43A-79FE-423C-B257-D27BC414C58E}" srcOrd="3" destOrd="0" presId="urn:microsoft.com/office/officeart/2009/3/layout/StepUpProcess"/>
    <dgm:cxn modelId="{7AAAC873-96FF-424B-8527-FFCE513DD99A}" type="presParOf" srcId="{AFC1E43A-79FE-423C-B257-D27BC414C58E}" destId="{4C8DB850-1003-4E92-9F5F-B2EC13BA6B3C}" srcOrd="0" destOrd="0" presId="urn:microsoft.com/office/officeart/2009/3/layout/StepUpProcess"/>
    <dgm:cxn modelId="{B6CC9C41-8E60-4934-9779-7FB8CF1F036A}" type="presParOf" srcId="{C246D522-4F33-4E4B-B81A-B79D24CFB19D}" destId="{BC43DC75-8C26-4BA4-9DA1-4A49CEB72776}" srcOrd="4" destOrd="0" presId="urn:microsoft.com/office/officeart/2009/3/layout/StepUpProcess"/>
    <dgm:cxn modelId="{7AEE3C85-09D0-47A6-81B7-FE7E43E677C0}" type="presParOf" srcId="{BC43DC75-8C26-4BA4-9DA1-4A49CEB72776}" destId="{6D6BA724-DA55-42B7-8DE1-0AE9C5B62084}" srcOrd="0" destOrd="0" presId="urn:microsoft.com/office/officeart/2009/3/layout/StepUpProcess"/>
    <dgm:cxn modelId="{F39F3B19-C052-46F6-8AEF-5B0C292BC865}" type="presParOf" srcId="{BC43DC75-8C26-4BA4-9DA1-4A49CEB72776}" destId="{A555557B-3C39-4D3E-A864-C11102545CD2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0D35714-FE43-48A1-BB15-72D0D13F32AA}" type="doc">
      <dgm:prSet loTypeId="urn:microsoft.com/office/officeart/2005/8/layout/venn1" loCatId="relationship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506C6060-3CB8-49B6-91C2-D2A37FFC9AB2}">
      <dgm:prSet phldrT="[Text]"/>
      <dgm:spPr/>
      <dgm:t>
        <a:bodyPr/>
        <a:lstStyle/>
        <a:p>
          <a:pPr>
            <a:buNone/>
          </a:pPr>
          <a:r>
            <a:rPr lang="en-IN" b="1" i="0" dirty="0"/>
            <a:t>Fraud velocity rule</a:t>
          </a:r>
          <a:endParaRPr lang="en-IN" dirty="0"/>
        </a:p>
      </dgm:t>
    </dgm:pt>
    <dgm:pt modelId="{27D4E0E4-9E55-4DBC-924F-B224CC146CBD}" type="parTrans" cxnId="{1CEE0DA9-44B5-4637-A941-1C7B36D4DB92}">
      <dgm:prSet/>
      <dgm:spPr/>
      <dgm:t>
        <a:bodyPr/>
        <a:lstStyle/>
        <a:p>
          <a:endParaRPr lang="en-IN"/>
        </a:p>
      </dgm:t>
    </dgm:pt>
    <dgm:pt modelId="{B35D7AB6-0AEE-4B6A-9755-E52E74287917}" type="sibTrans" cxnId="{1CEE0DA9-44B5-4637-A941-1C7B36D4DB92}">
      <dgm:prSet/>
      <dgm:spPr/>
      <dgm:t>
        <a:bodyPr/>
        <a:lstStyle/>
        <a:p>
          <a:endParaRPr lang="en-IN"/>
        </a:p>
      </dgm:t>
    </dgm:pt>
    <dgm:pt modelId="{9CD400F3-9820-4047-B6B3-1E566ED4C293}">
      <dgm:prSet phldrT="[Text]"/>
      <dgm:spPr/>
      <dgm:t>
        <a:bodyPr/>
        <a:lstStyle/>
        <a:p>
          <a:pPr>
            <a:buNone/>
          </a:pPr>
          <a:r>
            <a:rPr lang="en-IN" b="1" i="0" dirty="0"/>
            <a:t>High‑value transaction rule</a:t>
          </a:r>
          <a:endParaRPr lang="en-IN" dirty="0"/>
        </a:p>
      </dgm:t>
    </dgm:pt>
    <dgm:pt modelId="{25FC6ED5-4EE3-4117-B893-F3C502BE201F}" type="parTrans" cxnId="{B1DB52BF-C382-4743-9AB9-7CC0DF23B68F}">
      <dgm:prSet/>
      <dgm:spPr/>
      <dgm:t>
        <a:bodyPr/>
        <a:lstStyle/>
        <a:p>
          <a:endParaRPr lang="en-IN"/>
        </a:p>
      </dgm:t>
    </dgm:pt>
    <dgm:pt modelId="{76F09863-0EF7-4782-AB44-1055791A17C1}" type="sibTrans" cxnId="{B1DB52BF-C382-4743-9AB9-7CC0DF23B68F}">
      <dgm:prSet/>
      <dgm:spPr/>
      <dgm:t>
        <a:bodyPr/>
        <a:lstStyle/>
        <a:p>
          <a:endParaRPr lang="en-IN"/>
        </a:p>
      </dgm:t>
    </dgm:pt>
    <dgm:pt modelId="{357424C9-AEEB-4ACD-844B-0441441052E8}">
      <dgm:prSet phldrT="[Text]"/>
      <dgm:spPr/>
      <dgm:t>
        <a:bodyPr/>
        <a:lstStyle/>
        <a:p>
          <a:pPr>
            <a:buNone/>
          </a:pPr>
          <a:r>
            <a:rPr lang="en-IN" b="1" i="0" dirty="0"/>
            <a:t>Dashboard responsiveness</a:t>
          </a:r>
          <a:endParaRPr lang="en-IN" dirty="0"/>
        </a:p>
      </dgm:t>
    </dgm:pt>
    <dgm:pt modelId="{B459585D-BAFC-4F93-812C-AC65135EE4A8}" type="parTrans" cxnId="{6C7EE6DD-BB20-4F36-9672-6785C6A308F2}">
      <dgm:prSet/>
      <dgm:spPr/>
      <dgm:t>
        <a:bodyPr/>
        <a:lstStyle/>
        <a:p>
          <a:endParaRPr lang="en-IN"/>
        </a:p>
      </dgm:t>
    </dgm:pt>
    <dgm:pt modelId="{4FE4B917-8BC2-4CEE-8F84-B16CC78C39D5}" type="sibTrans" cxnId="{6C7EE6DD-BB20-4F36-9672-6785C6A308F2}">
      <dgm:prSet/>
      <dgm:spPr/>
      <dgm:t>
        <a:bodyPr/>
        <a:lstStyle/>
        <a:p>
          <a:endParaRPr lang="en-IN"/>
        </a:p>
      </dgm:t>
    </dgm:pt>
    <dgm:pt modelId="{CDD99A2C-0176-4D50-80B4-B203984CF4C6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The fraud velocity query ranks high‑frequency accounts; the top account (FromAccountID 1037) has 11 transfers, with many others in the 7–10 range.</a:t>
          </a:r>
          <a:endParaRPr lang="en-IN" dirty="0"/>
        </a:p>
      </dgm:t>
    </dgm:pt>
    <dgm:pt modelId="{F0DEF143-64DE-4236-BFCD-3F9069B4D609}" type="parTrans" cxnId="{F8786251-96E5-41A8-9FEB-F448241421F9}">
      <dgm:prSet/>
      <dgm:spPr/>
      <dgm:t>
        <a:bodyPr/>
        <a:lstStyle/>
        <a:p>
          <a:endParaRPr lang="en-IN"/>
        </a:p>
      </dgm:t>
    </dgm:pt>
    <dgm:pt modelId="{239669B5-61BB-48B2-8931-8E868AB74F0A}" type="sibTrans" cxnId="{F8786251-96E5-41A8-9FEB-F448241421F9}">
      <dgm:prSet/>
      <dgm:spPr/>
      <dgm:t>
        <a:bodyPr/>
        <a:lstStyle/>
        <a:p>
          <a:endParaRPr lang="en-IN"/>
        </a:p>
      </dgm:t>
    </dgm:pt>
    <dgm:pt modelId="{94963F06-9572-4CF4-8256-885A4CFB5F5B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Any transfer ≥ 10,000 is automatically logged into FraudAlerts with a high risk score, so big transactions always appear on the Compliance screen.</a:t>
          </a:r>
          <a:endParaRPr lang="en-IN" dirty="0"/>
        </a:p>
      </dgm:t>
    </dgm:pt>
    <dgm:pt modelId="{3F82C96D-EBDA-4F76-B960-065C1D1C7A01}" type="parTrans" cxnId="{82F2CC51-C36F-42CE-BBCD-4C713B937BAA}">
      <dgm:prSet/>
      <dgm:spPr/>
      <dgm:t>
        <a:bodyPr/>
        <a:lstStyle/>
        <a:p>
          <a:endParaRPr lang="en-IN"/>
        </a:p>
      </dgm:t>
    </dgm:pt>
    <dgm:pt modelId="{D12B807E-6BCA-46B6-ADBC-E4440532D2C1}" type="sibTrans" cxnId="{82F2CC51-C36F-42CE-BBCD-4C713B937BAA}">
      <dgm:prSet/>
      <dgm:spPr/>
      <dgm:t>
        <a:bodyPr/>
        <a:lstStyle/>
        <a:p>
          <a:endParaRPr lang="en-IN"/>
        </a:p>
      </dgm:t>
    </dgm:pt>
    <dgm:pt modelId="{85FF508F-7650-4D35-BC36-B9969799E8CB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Because SQLite computes aggregates and the app plots only recent data (last 50 transactions, top account types), the Streamlit dashboard stays fast and responsive.</a:t>
          </a:r>
          <a:endParaRPr lang="en-IN" dirty="0"/>
        </a:p>
      </dgm:t>
    </dgm:pt>
    <dgm:pt modelId="{05B202EF-C05A-4BA7-A8F8-B323303122AB}" type="parTrans" cxnId="{132A4296-1BF7-48F5-97AD-0136B488FB0F}">
      <dgm:prSet/>
      <dgm:spPr/>
      <dgm:t>
        <a:bodyPr/>
        <a:lstStyle/>
        <a:p>
          <a:endParaRPr lang="en-IN"/>
        </a:p>
      </dgm:t>
    </dgm:pt>
    <dgm:pt modelId="{A4674E3D-0A06-481D-ABB7-8983C017A4CE}" type="sibTrans" cxnId="{132A4296-1BF7-48F5-97AD-0136B488FB0F}">
      <dgm:prSet/>
      <dgm:spPr/>
      <dgm:t>
        <a:bodyPr/>
        <a:lstStyle/>
        <a:p>
          <a:endParaRPr lang="en-IN"/>
        </a:p>
      </dgm:t>
    </dgm:pt>
    <dgm:pt modelId="{FACD8BD1-456E-4A87-B0CD-09CA703349E1}" type="pres">
      <dgm:prSet presAssocID="{70D35714-FE43-48A1-BB15-72D0D13F32AA}" presName="compositeShape" presStyleCnt="0">
        <dgm:presLayoutVars>
          <dgm:chMax val="7"/>
          <dgm:dir/>
          <dgm:resizeHandles val="exact"/>
        </dgm:presLayoutVars>
      </dgm:prSet>
      <dgm:spPr/>
    </dgm:pt>
    <dgm:pt modelId="{1619726A-ED0F-4364-A9F9-51405334138A}" type="pres">
      <dgm:prSet presAssocID="{506C6060-3CB8-49B6-91C2-D2A37FFC9AB2}" presName="circ1" presStyleLbl="vennNode1" presStyleIdx="0" presStyleCnt="3"/>
      <dgm:spPr/>
    </dgm:pt>
    <dgm:pt modelId="{A0B6CD4B-4198-4675-8749-699FA6AB0CD7}" type="pres">
      <dgm:prSet presAssocID="{506C6060-3CB8-49B6-91C2-D2A37FFC9AB2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F84A423-9232-4A3E-BA67-AE26670B1233}" type="pres">
      <dgm:prSet presAssocID="{9CD400F3-9820-4047-B6B3-1E566ED4C293}" presName="circ2" presStyleLbl="vennNode1" presStyleIdx="1" presStyleCnt="3"/>
      <dgm:spPr/>
    </dgm:pt>
    <dgm:pt modelId="{DEE5F2D2-9868-4148-9B3C-2AD0F5A4F89A}" type="pres">
      <dgm:prSet presAssocID="{9CD400F3-9820-4047-B6B3-1E566ED4C293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351CA544-2F98-4113-AF2F-26761CB643B9}" type="pres">
      <dgm:prSet presAssocID="{357424C9-AEEB-4ACD-844B-0441441052E8}" presName="circ3" presStyleLbl="vennNode1" presStyleIdx="2" presStyleCnt="3"/>
      <dgm:spPr/>
    </dgm:pt>
    <dgm:pt modelId="{1DE76502-80F6-4C01-A42C-D0E42E80246C}" type="pres">
      <dgm:prSet presAssocID="{357424C9-AEEB-4ACD-844B-0441441052E8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7CC1A106-7BC6-424C-B051-7DA34A370DD8}" type="presOf" srcId="{85FF508F-7650-4D35-BC36-B9969799E8CB}" destId="{1DE76502-80F6-4C01-A42C-D0E42E80246C}" srcOrd="1" destOrd="1" presId="urn:microsoft.com/office/officeart/2005/8/layout/venn1"/>
    <dgm:cxn modelId="{D736203C-5062-432D-B904-44EA8B519B85}" type="presOf" srcId="{9CD400F3-9820-4047-B6B3-1E566ED4C293}" destId="{0F84A423-9232-4A3E-BA67-AE26670B1233}" srcOrd="0" destOrd="0" presId="urn:microsoft.com/office/officeart/2005/8/layout/venn1"/>
    <dgm:cxn modelId="{A46A6961-BE6B-4CD0-B427-66990755B179}" type="presOf" srcId="{9CD400F3-9820-4047-B6B3-1E566ED4C293}" destId="{DEE5F2D2-9868-4148-9B3C-2AD0F5A4F89A}" srcOrd="1" destOrd="0" presId="urn:microsoft.com/office/officeart/2005/8/layout/venn1"/>
    <dgm:cxn modelId="{4180EE62-AB24-4F83-BF9F-BC924E901831}" type="presOf" srcId="{CDD99A2C-0176-4D50-80B4-B203984CF4C6}" destId="{1619726A-ED0F-4364-A9F9-51405334138A}" srcOrd="0" destOrd="1" presId="urn:microsoft.com/office/officeart/2005/8/layout/venn1"/>
    <dgm:cxn modelId="{F067B44C-B121-4048-BFC1-76D2E99A1B63}" type="presOf" srcId="{506C6060-3CB8-49B6-91C2-D2A37FFC9AB2}" destId="{1619726A-ED0F-4364-A9F9-51405334138A}" srcOrd="0" destOrd="0" presId="urn:microsoft.com/office/officeart/2005/8/layout/venn1"/>
    <dgm:cxn modelId="{F8786251-96E5-41A8-9FEB-F448241421F9}" srcId="{506C6060-3CB8-49B6-91C2-D2A37FFC9AB2}" destId="{CDD99A2C-0176-4D50-80B4-B203984CF4C6}" srcOrd="0" destOrd="0" parTransId="{F0DEF143-64DE-4236-BFCD-3F9069B4D609}" sibTransId="{239669B5-61BB-48B2-8931-8E868AB74F0A}"/>
    <dgm:cxn modelId="{82F2CC51-C36F-42CE-BBCD-4C713B937BAA}" srcId="{9CD400F3-9820-4047-B6B3-1E566ED4C293}" destId="{94963F06-9572-4CF4-8256-885A4CFB5F5B}" srcOrd="0" destOrd="0" parTransId="{3F82C96D-EBDA-4F76-B960-065C1D1C7A01}" sibTransId="{D12B807E-6BCA-46B6-ADBC-E4440532D2C1}"/>
    <dgm:cxn modelId="{E370C895-B8E1-4B7A-9AD4-17F664541D0B}" type="presOf" srcId="{CDD99A2C-0176-4D50-80B4-B203984CF4C6}" destId="{A0B6CD4B-4198-4675-8749-699FA6AB0CD7}" srcOrd="1" destOrd="1" presId="urn:microsoft.com/office/officeart/2005/8/layout/venn1"/>
    <dgm:cxn modelId="{132A4296-1BF7-48F5-97AD-0136B488FB0F}" srcId="{357424C9-AEEB-4ACD-844B-0441441052E8}" destId="{85FF508F-7650-4D35-BC36-B9969799E8CB}" srcOrd="0" destOrd="0" parTransId="{05B202EF-C05A-4BA7-A8F8-B323303122AB}" sibTransId="{A4674E3D-0A06-481D-ABB7-8983C017A4CE}"/>
    <dgm:cxn modelId="{1CEE0DA9-44B5-4637-A941-1C7B36D4DB92}" srcId="{70D35714-FE43-48A1-BB15-72D0D13F32AA}" destId="{506C6060-3CB8-49B6-91C2-D2A37FFC9AB2}" srcOrd="0" destOrd="0" parTransId="{27D4E0E4-9E55-4DBC-924F-B224CC146CBD}" sibTransId="{B35D7AB6-0AEE-4B6A-9755-E52E74287917}"/>
    <dgm:cxn modelId="{24597CB3-F165-4873-B22E-58CA37ED6F68}" type="presOf" srcId="{94963F06-9572-4CF4-8256-885A4CFB5F5B}" destId="{DEE5F2D2-9868-4148-9B3C-2AD0F5A4F89A}" srcOrd="1" destOrd="1" presId="urn:microsoft.com/office/officeart/2005/8/layout/venn1"/>
    <dgm:cxn modelId="{E700ABBE-27F7-4AEE-A117-CF7D87D98177}" type="presOf" srcId="{94963F06-9572-4CF4-8256-885A4CFB5F5B}" destId="{0F84A423-9232-4A3E-BA67-AE26670B1233}" srcOrd="0" destOrd="1" presId="urn:microsoft.com/office/officeart/2005/8/layout/venn1"/>
    <dgm:cxn modelId="{635C6BBF-BF6E-4FFF-B292-360018B63913}" type="presOf" srcId="{506C6060-3CB8-49B6-91C2-D2A37FFC9AB2}" destId="{A0B6CD4B-4198-4675-8749-699FA6AB0CD7}" srcOrd="1" destOrd="0" presId="urn:microsoft.com/office/officeart/2005/8/layout/venn1"/>
    <dgm:cxn modelId="{B1DB52BF-C382-4743-9AB9-7CC0DF23B68F}" srcId="{70D35714-FE43-48A1-BB15-72D0D13F32AA}" destId="{9CD400F3-9820-4047-B6B3-1E566ED4C293}" srcOrd="1" destOrd="0" parTransId="{25FC6ED5-4EE3-4117-B893-F3C502BE201F}" sibTransId="{76F09863-0EF7-4782-AB44-1055791A17C1}"/>
    <dgm:cxn modelId="{79A0A8C5-AD10-4689-8392-DADB2E7938D6}" type="presOf" srcId="{85FF508F-7650-4D35-BC36-B9969799E8CB}" destId="{351CA544-2F98-4113-AF2F-26761CB643B9}" srcOrd="0" destOrd="1" presId="urn:microsoft.com/office/officeart/2005/8/layout/venn1"/>
    <dgm:cxn modelId="{92CB9DC7-A49C-4CEF-8FE6-4EFEDE98BA3C}" type="presOf" srcId="{70D35714-FE43-48A1-BB15-72D0D13F32AA}" destId="{FACD8BD1-456E-4A87-B0CD-09CA703349E1}" srcOrd="0" destOrd="0" presId="urn:microsoft.com/office/officeart/2005/8/layout/venn1"/>
    <dgm:cxn modelId="{85F25FDD-9503-4660-8E69-AEE4AEC6DCDC}" type="presOf" srcId="{357424C9-AEEB-4ACD-844B-0441441052E8}" destId="{351CA544-2F98-4113-AF2F-26761CB643B9}" srcOrd="0" destOrd="0" presId="urn:microsoft.com/office/officeart/2005/8/layout/venn1"/>
    <dgm:cxn modelId="{6C7EE6DD-BB20-4F36-9672-6785C6A308F2}" srcId="{70D35714-FE43-48A1-BB15-72D0D13F32AA}" destId="{357424C9-AEEB-4ACD-844B-0441441052E8}" srcOrd="2" destOrd="0" parTransId="{B459585D-BAFC-4F93-812C-AC65135EE4A8}" sibTransId="{4FE4B917-8BC2-4CEE-8F84-B16CC78C39D5}"/>
    <dgm:cxn modelId="{7D899BF5-D11D-4EFB-9B1B-4A55018A955C}" type="presOf" srcId="{357424C9-AEEB-4ACD-844B-0441441052E8}" destId="{1DE76502-80F6-4C01-A42C-D0E42E80246C}" srcOrd="1" destOrd="0" presId="urn:microsoft.com/office/officeart/2005/8/layout/venn1"/>
    <dgm:cxn modelId="{6E289AC2-7003-4307-ADFA-8756183AD038}" type="presParOf" srcId="{FACD8BD1-456E-4A87-B0CD-09CA703349E1}" destId="{1619726A-ED0F-4364-A9F9-51405334138A}" srcOrd="0" destOrd="0" presId="urn:microsoft.com/office/officeart/2005/8/layout/venn1"/>
    <dgm:cxn modelId="{C3796CB9-8220-48CF-86BE-C8C320AAC052}" type="presParOf" srcId="{FACD8BD1-456E-4A87-B0CD-09CA703349E1}" destId="{A0B6CD4B-4198-4675-8749-699FA6AB0CD7}" srcOrd="1" destOrd="0" presId="urn:microsoft.com/office/officeart/2005/8/layout/venn1"/>
    <dgm:cxn modelId="{88382AC6-21AA-495A-8ADD-08AB7F4E91B3}" type="presParOf" srcId="{FACD8BD1-456E-4A87-B0CD-09CA703349E1}" destId="{0F84A423-9232-4A3E-BA67-AE26670B1233}" srcOrd="2" destOrd="0" presId="urn:microsoft.com/office/officeart/2005/8/layout/venn1"/>
    <dgm:cxn modelId="{9295C5CD-0690-480B-9101-D1D464843D9E}" type="presParOf" srcId="{FACD8BD1-456E-4A87-B0CD-09CA703349E1}" destId="{DEE5F2D2-9868-4148-9B3C-2AD0F5A4F89A}" srcOrd="3" destOrd="0" presId="urn:microsoft.com/office/officeart/2005/8/layout/venn1"/>
    <dgm:cxn modelId="{FBB7E3F0-9E18-403E-8DF1-9909E8C53660}" type="presParOf" srcId="{FACD8BD1-456E-4A87-B0CD-09CA703349E1}" destId="{351CA544-2F98-4113-AF2F-26761CB643B9}" srcOrd="4" destOrd="0" presId="urn:microsoft.com/office/officeart/2005/8/layout/venn1"/>
    <dgm:cxn modelId="{B36DCF59-A486-49C4-A7E2-97C7A85F07AA}" type="presParOf" srcId="{FACD8BD1-456E-4A87-B0CD-09CA703349E1}" destId="{1DE76502-80F6-4C01-A42C-D0E42E80246C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841580A-E028-46B3-ABE8-3A6C6C54C870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90E37A48-A2E7-49F4-B7D0-889BF5BAA8C9}">
      <dgm:prSet phldrT="[Text]"/>
      <dgm:spPr/>
      <dgm:t>
        <a:bodyPr/>
        <a:lstStyle/>
        <a:p>
          <a:pPr>
            <a:buNone/>
          </a:pPr>
          <a:r>
            <a:rPr lang="en-IN" b="1" i="0" dirty="0"/>
            <a:t>Transaction pattern</a:t>
          </a:r>
          <a:endParaRPr lang="en-IN" dirty="0"/>
        </a:p>
      </dgm:t>
    </dgm:pt>
    <dgm:pt modelId="{1197A28A-216C-4DB4-8BD7-E8F3A37B6E25}" type="parTrans" cxnId="{F9F50981-6BFB-4237-B666-7A6BCD415BC2}">
      <dgm:prSet/>
      <dgm:spPr/>
      <dgm:t>
        <a:bodyPr/>
        <a:lstStyle/>
        <a:p>
          <a:endParaRPr lang="en-IN"/>
        </a:p>
      </dgm:t>
    </dgm:pt>
    <dgm:pt modelId="{45685D37-651B-4E7C-9737-942D2B3786E4}" type="sibTrans" cxnId="{F9F50981-6BFB-4237-B666-7A6BCD415BC2}">
      <dgm:prSet/>
      <dgm:spPr/>
      <dgm:t>
        <a:bodyPr/>
        <a:lstStyle/>
        <a:p>
          <a:endParaRPr lang="en-IN"/>
        </a:p>
      </dgm:t>
    </dgm:pt>
    <dgm:pt modelId="{6624E81D-0C11-4F86-A5AB-945F42D406CA}">
      <dgm:prSet phldrT="[Text]"/>
      <dgm:spPr/>
      <dgm:t>
        <a:bodyPr/>
        <a:lstStyle/>
        <a:p>
          <a:pPr>
            <a:buNone/>
          </a:pPr>
          <a:r>
            <a:rPr lang="en-IN" b="1" i="0" dirty="0"/>
            <a:t>Velocity‑based risk</a:t>
          </a:r>
          <a:endParaRPr lang="en-IN" dirty="0"/>
        </a:p>
      </dgm:t>
    </dgm:pt>
    <dgm:pt modelId="{0E68E44B-DFC9-4458-AFEF-CB1CECE70F5B}" type="parTrans" cxnId="{30B8E1E4-9EA3-41BC-8FB1-13440A3C523F}">
      <dgm:prSet/>
      <dgm:spPr/>
      <dgm:t>
        <a:bodyPr/>
        <a:lstStyle/>
        <a:p>
          <a:endParaRPr lang="en-IN"/>
        </a:p>
      </dgm:t>
    </dgm:pt>
    <dgm:pt modelId="{21DB50A6-B6BF-4781-B9BB-22313E2413BB}" type="sibTrans" cxnId="{30B8E1E4-9EA3-41BC-8FB1-13440A3C523F}">
      <dgm:prSet/>
      <dgm:spPr/>
      <dgm:t>
        <a:bodyPr/>
        <a:lstStyle/>
        <a:p>
          <a:endParaRPr lang="en-IN"/>
        </a:p>
      </dgm:t>
    </dgm:pt>
    <dgm:pt modelId="{5C4C3224-DE2B-45EF-8160-04938B764062}">
      <dgm:prSet phldrT="[Text]"/>
      <dgm:spPr/>
      <dgm:t>
        <a:bodyPr/>
        <a:lstStyle/>
        <a:p>
          <a:pPr>
            <a:buNone/>
          </a:pPr>
          <a:r>
            <a:rPr lang="en-IN" b="1" i="0" dirty="0"/>
            <a:t>Customer and product mix</a:t>
          </a:r>
          <a:endParaRPr lang="en-IN" dirty="0"/>
        </a:p>
      </dgm:t>
    </dgm:pt>
    <dgm:pt modelId="{6466C1E2-2176-4517-B12E-C0924B8F359E}" type="parTrans" cxnId="{00C1A191-EC95-4200-B83F-E5E410DCB894}">
      <dgm:prSet/>
      <dgm:spPr/>
      <dgm:t>
        <a:bodyPr/>
        <a:lstStyle/>
        <a:p>
          <a:endParaRPr lang="en-IN"/>
        </a:p>
      </dgm:t>
    </dgm:pt>
    <dgm:pt modelId="{D19D9115-C636-4F5C-B608-A6F81DE2D66B}" type="sibTrans" cxnId="{00C1A191-EC95-4200-B83F-E5E410DCB894}">
      <dgm:prSet/>
      <dgm:spPr/>
      <dgm:t>
        <a:bodyPr/>
        <a:lstStyle/>
        <a:p>
          <a:endParaRPr lang="en-IN"/>
        </a:p>
      </dgm:t>
    </dgm:pt>
    <dgm:pt modelId="{9D56E842-3883-4104-ACC1-BB468D260A1E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Most transactions are small or mid‑value, with a few very large ones above 10,000, so a high‑value fraud rule is justified.</a:t>
          </a:r>
          <a:endParaRPr lang="en-IN"/>
        </a:p>
      </dgm:t>
    </dgm:pt>
    <dgm:pt modelId="{AFD83167-74B0-406F-9734-C6F83887FBB3}" type="parTrans" cxnId="{5376A7B4-A72E-4C7A-A275-E09D28A23603}">
      <dgm:prSet/>
      <dgm:spPr/>
      <dgm:t>
        <a:bodyPr/>
        <a:lstStyle/>
        <a:p>
          <a:endParaRPr lang="en-IN"/>
        </a:p>
      </dgm:t>
    </dgm:pt>
    <dgm:pt modelId="{67B4BEDB-044F-4E54-B1DB-D3E04F71379F}" type="sibTrans" cxnId="{5376A7B4-A72E-4C7A-A275-E09D28A23603}">
      <dgm:prSet/>
      <dgm:spPr/>
      <dgm:t>
        <a:bodyPr/>
        <a:lstStyle/>
        <a:p>
          <a:endParaRPr lang="en-IN"/>
        </a:p>
      </dgm:t>
    </dgm:pt>
    <dgm:pt modelId="{6E3075A8-F454-457B-980A-C9DB1BE50D96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Velocity checks highlight a small set of accounts with unusually many transfers (around 8–11), suggesting possible automated or mule activity.</a:t>
          </a:r>
          <a:endParaRPr lang="en-IN" dirty="0"/>
        </a:p>
      </dgm:t>
    </dgm:pt>
    <dgm:pt modelId="{E6FAFE82-C050-4943-AA59-08783418A1F4}" type="parTrans" cxnId="{27BA2285-77A5-44AA-808F-BAA19768EEA3}">
      <dgm:prSet/>
      <dgm:spPr/>
      <dgm:t>
        <a:bodyPr/>
        <a:lstStyle/>
        <a:p>
          <a:endParaRPr lang="en-IN"/>
        </a:p>
      </dgm:t>
    </dgm:pt>
    <dgm:pt modelId="{549BCDB7-83FF-4BDA-A1B1-33A592DBCDDB}" type="sibTrans" cxnId="{27BA2285-77A5-44AA-808F-BAA19768EEA3}">
      <dgm:prSet/>
      <dgm:spPr/>
      <dgm:t>
        <a:bodyPr/>
        <a:lstStyle/>
        <a:p>
          <a:endParaRPr lang="en-IN"/>
        </a:p>
      </dgm:t>
    </dgm:pt>
    <dgm:pt modelId="{E4D95AB3-FCCB-452F-8495-062C04374435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Segmentation shows Savings accounts are the majority, with meaningful Business/Current/Loan segments, indicating where liquidity and volume are concentrated.</a:t>
          </a:r>
          <a:endParaRPr lang="en-IN" dirty="0"/>
        </a:p>
      </dgm:t>
    </dgm:pt>
    <dgm:pt modelId="{4C1A3DB3-5B8B-44D6-AD53-A85BFD39E792}" type="parTrans" cxnId="{AA458EE0-8934-49CC-9EC6-1C4C8AB75DC6}">
      <dgm:prSet/>
      <dgm:spPr/>
      <dgm:t>
        <a:bodyPr/>
        <a:lstStyle/>
        <a:p>
          <a:endParaRPr lang="en-IN"/>
        </a:p>
      </dgm:t>
    </dgm:pt>
    <dgm:pt modelId="{9E38AE8C-1F5A-452F-903F-FAE30093D84C}" type="sibTrans" cxnId="{AA458EE0-8934-49CC-9EC6-1C4C8AB75DC6}">
      <dgm:prSet/>
      <dgm:spPr/>
      <dgm:t>
        <a:bodyPr/>
        <a:lstStyle/>
        <a:p>
          <a:endParaRPr lang="en-IN"/>
        </a:p>
      </dgm:t>
    </dgm:pt>
    <dgm:pt modelId="{83055D55-A7EF-49E0-93AE-AB3A4E2B1E69}" type="pres">
      <dgm:prSet presAssocID="{0841580A-E028-46B3-ABE8-3A6C6C54C870}" presName="Name0" presStyleCnt="0">
        <dgm:presLayoutVars>
          <dgm:chMax val="7"/>
          <dgm:chPref val="7"/>
          <dgm:dir/>
        </dgm:presLayoutVars>
      </dgm:prSet>
      <dgm:spPr/>
    </dgm:pt>
    <dgm:pt modelId="{1F45CD71-7931-420F-8BF0-F9F6E2172F0E}" type="pres">
      <dgm:prSet presAssocID="{0841580A-E028-46B3-ABE8-3A6C6C54C870}" presName="Name1" presStyleCnt="0"/>
      <dgm:spPr/>
    </dgm:pt>
    <dgm:pt modelId="{A23FB25A-3573-4F94-B5F2-81BC67E7846F}" type="pres">
      <dgm:prSet presAssocID="{0841580A-E028-46B3-ABE8-3A6C6C54C870}" presName="cycle" presStyleCnt="0"/>
      <dgm:spPr/>
    </dgm:pt>
    <dgm:pt modelId="{F190C097-0517-49CE-B7A6-6D05ED33A6AC}" type="pres">
      <dgm:prSet presAssocID="{0841580A-E028-46B3-ABE8-3A6C6C54C870}" presName="srcNode" presStyleLbl="node1" presStyleIdx="0" presStyleCnt="3"/>
      <dgm:spPr/>
    </dgm:pt>
    <dgm:pt modelId="{9189C6AE-EB60-47C4-850E-5907ADE4BCA9}" type="pres">
      <dgm:prSet presAssocID="{0841580A-E028-46B3-ABE8-3A6C6C54C870}" presName="conn" presStyleLbl="parChTrans1D2" presStyleIdx="0" presStyleCnt="1"/>
      <dgm:spPr/>
    </dgm:pt>
    <dgm:pt modelId="{51DE311D-5F8F-4129-BC0A-2064610176A3}" type="pres">
      <dgm:prSet presAssocID="{0841580A-E028-46B3-ABE8-3A6C6C54C870}" presName="extraNode" presStyleLbl="node1" presStyleIdx="0" presStyleCnt="3"/>
      <dgm:spPr/>
    </dgm:pt>
    <dgm:pt modelId="{A28C8E20-C0BC-4FDC-8C08-DCC92DBF612E}" type="pres">
      <dgm:prSet presAssocID="{0841580A-E028-46B3-ABE8-3A6C6C54C870}" presName="dstNode" presStyleLbl="node1" presStyleIdx="0" presStyleCnt="3"/>
      <dgm:spPr/>
    </dgm:pt>
    <dgm:pt modelId="{99DC02F1-ED0C-4AF5-B679-702C2EA72C20}" type="pres">
      <dgm:prSet presAssocID="{90E37A48-A2E7-49F4-B7D0-889BF5BAA8C9}" presName="text_1" presStyleLbl="node1" presStyleIdx="0" presStyleCnt="3">
        <dgm:presLayoutVars>
          <dgm:bulletEnabled val="1"/>
        </dgm:presLayoutVars>
      </dgm:prSet>
      <dgm:spPr/>
    </dgm:pt>
    <dgm:pt modelId="{1FAA8997-9197-4DE8-923D-AE178F83AB25}" type="pres">
      <dgm:prSet presAssocID="{90E37A48-A2E7-49F4-B7D0-889BF5BAA8C9}" presName="accent_1" presStyleCnt="0"/>
      <dgm:spPr/>
    </dgm:pt>
    <dgm:pt modelId="{B61262E2-E450-43A2-A0BF-0AD94482B263}" type="pres">
      <dgm:prSet presAssocID="{90E37A48-A2E7-49F4-B7D0-889BF5BAA8C9}" presName="accentRepeatNode" presStyleLbl="solidFgAcc1" presStyleIdx="0" presStyleCnt="3"/>
      <dgm:spPr/>
    </dgm:pt>
    <dgm:pt modelId="{D5A4179C-0E00-43B9-B19C-5B361A9639EB}" type="pres">
      <dgm:prSet presAssocID="{6624E81D-0C11-4F86-A5AB-945F42D406CA}" presName="text_2" presStyleLbl="node1" presStyleIdx="1" presStyleCnt="3">
        <dgm:presLayoutVars>
          <dgm:bulletEnabled val="1"/>
        </dgm:presLayoutVars>
      </dgm:prSet>
      <dgm:spPr/>
    </dgm:pt>
    <dgm:pt modelId="{70981EF5-391C-4F7F-98D0-ED43C85B738A}" type="pres">
      <dgm:prSet presAssocID="{6624E81D-0C11-4F86-A5AB-945F42D406CA}" presName="accent_2" presStyleCnt="0"/>
      <dgm:spPr/>
    </dgm:pt>
    <dgm:pt modelId="{19E8FC56-24B6-4583-8504-824902DA743D}" type="pres">
      <dgm:prSet presAssocID="{6624E81D-0C11-4F86-A5AB-945F42D406CA}" presName="accentRepeatNode" presStyleLbl="solidFgAcc1" presStyleIdx="1" presStyleCnt="3"/>
      <dgm:spPr/>
    </dgm:pt>
    <dgm:pt modelId="{CD439C93-F7D2-48AF-8678-9581BA60AD7C}" type="pres">
      <dgm:prSet presAssocID="{5C4C3224-DE2B-45EF-8160-04938B764062}" presName="text_3" presStyleLbl="node1" presStyleIdx="2" presStyleCnt="3">
        <dgm:presLayoutVars>
          <dgm:bulletEnabled val="1"/>
        </dgm:presLayoutVars>
      </dgm:prSet>
      <dgm:spPr/>
    </dgm:pt>
    <dgm:pt modelId="{A3A5A1BC-02CC-4FF1-B5C3-06BD5A4F619A}" type="pres">
      <dgm:prSet presAssocID="{5C4C3224-DE2B-45EF-8160-04938B764062}" presName="accent_3" presStyleCnt="0"/>
      <dgm:spPr/>
    </dgm:pt>
    <dgm:pt modelId="{39B98564-29B6-493A-9B53-C0FD25A8FF23}" type="pres">
      <dgm:prSet presAssocID="{5C4C3224-DE2B-45EF-8160-04938B764062}" presName="accentRepeatNode" presStyleLbl="solidFgAcc1" presStyleIdx="2" presStyleCnt="3"/>
      <dgm:spPr/>
    </dgm:pt>
  </dgm:ptLst>
  <dgm:cxnLst>
    <dgm:cxn modelId="{8884DE05-7C08-467B-92D2-E77950BAF341}" type="presOf" srcId="{5C4C3224-DE2B-45EF-8160-04938B764062}" destId="{CD439C93-F7D2-48AF-8678-9581BA60AD7C}" srcOrd="0" destOrd="0" presId="urn:microsoft.com/office/officeart/2008/layout/VerticalCurvedList"/>
    <dgm:cxn modelId="{FB52FE0D-5EF6-4B23-AC56-0B75FBBBC436}" type="presOf" srcId="{6624E81D-0C11-4F86-A5AB-945F42D406CA}" destId="{D5A4179C-0E00-43B9-B19C-5B361A9639EB}" srcOrd="0" destOrd="0" presId="urn:microsoft.com/office/officeart/2008/layout/VerticalCurvedList"/>
    <dgm:cxn modelId="{DE112720-B296-4012-B6B3-10B25DD363FB}" type="presOf" srcId="{9D56E842-3883-4104-ACC1-BB468D260A1E}" destId="{99DC02F1-ED0C-4AF5-B679-702C2EA72C20}" srcOrd="0" destOrd="1" presId="urn:microsoft.com/office/officeart/2008/layout/VerticalCurvedList"/>
    <dgm:cxn modelId="{140AC145-020B-435E-B67E-911DF64AA06D}" type="presOf" srcId="{67B4BEDB-044F-4E54-B1DB-D3E04F71379F}" destId="{9189C6AE-EB60-47C4-850E-5907ADE4BCA9}" srcOrd="0" destOrd="0" presId="urn:microsoft.com/office/officeart/2008/layout/VerticalCurvedList"/>
    <dgm:cxn modelId="{49281A50-EC80-42AD-AF67-83F53209BFD5}" type="presOf" srcId="{6E3075A8-F454-457B-980A-C9DB1BE50D96}" destId="{D5A4179C-0E00-43B9-B19C-5B361A9639EB}" srcOrd="0" destOrd="1" presId="urn:microsoft.com/office/officeart/2008/layout/VerticalCurvedList"/>
    <dgm:cxn modelId="{F9F50981-6BFB-4237-B666-7A6BCD415BC2}" srcId="{0841580A-E028-46B3-ABE8-3A6C6C54C870}" destId="{90E37A48-A2E7-49F4-B7D0-889BF5BAA8C9}" srcOrd="0" destOrd="0" parTransId="{1197A28A-216C-4DB4-8BD7-E8F3A37B6E25}" sibTransId="{45685D37-651B-4E7C-9737-942D2B3786E4}"/>
    <dgm:cxn modelId="{27BA2285-77A5-44AA-808F-BAA19768EEA3}" srcId="{6624E81D-0C11-4F86-A5AB-945F42D406CA}" destId="{6E3075A8-F454-457B-980A-C9DB1BE50D96}" srcOrd="0" destOrd="0" parTransId="{E6FAFE82-C050-4943-AA59-08783418A1F4}" sibTransId="{549BCDB7-83FF-4BDA-A1B1-33A592DBCDDB}"/>
    <dgm:cxn modelId="{00C1A191-EC95-4200-B83F-E5E410DCB894}" srcId="{0841580A-E028-46B3-ABE8-3A6C6C54C870}" destId="{5C4C3224-DE2B-45EF-8160-04938B764062}" srcOrd="2" destOrd="0" parTransId="{6466C1E2-2176-4517-B12E-C0924B8F359E}" sibTransId="{D19D9115-C636-4F5C-B608-A6F81DE2D66B}"/>
    <dgm:cxn modelId="{5376A7B4-A72E-4C7A-A275-E09D28A23603}" srcId="{90E37A48-A2E7-49F4-B7D0-889BF5BAA8C9}" destId="{9D56E842-3883-4104-ACC1-BB468D260A1E}" srcOrd="0" destOrd="0" parTransId="{AFD83167-74B0-406F-9734-C6F83887FBB3}" sibTransId="{67B4BEDB-044F-4E54-B1DB-D3E04F71379F}"/>
    <dgm:cxn modelId="{6D0945C6-DDD0-4C79-89BE-540C1D3AF8FB}" type="presOf" srcId="{0841580A-E028-46B3-ABE8-3A6C6C54C870}" destId="{83055D55-A7EF-49E0-93AE-AB3A4E2B1E69}" srcOrd="0" destOrd="0" presId="urn:microsoft.com/office/officeart/2008/layout/VerticalCurvedList"/>
    <dgm:cxn modelId="{E862CFD4-F6D5-4965-9C77-15F48C649DEB}" type="presOf" srcId="{90E37A48-A2E7-49F4-B7D0-889BF5BAA8C9}" destId="{99DC02F1-ED0C-4AF5-B679-702C2EA72C20}" srcOrd="0" destOrd="0" presId="urn:microsoft.com/office/officeart/2008/layout/VerticalCurvedList"/>
    <dgm:cxn modelId="{AA458EE0-8934-49CC-9EC6-1C4C8AB75DC6}" srcId="{5C4C3224-DE2B-45EF-8160-04938B764062}" destId="{E4D95AB3-FCCB-452F-8495-062C04374435}" srcOrd="0" destOrd="0" parTransId="{4C1A3DB3-5B8B-44D6-AD53-A85BFD39E792}" sibTransId="{9E38AE8C-1F5A-452F-903F-FAE30093D84C}"/>
    <dgm:cxn modelId="{30B8E1E4-9EA3-41BC-8FB1-13440A3C523F}" srcId="{0841580A-E028-46B3-ABE8-3A6C6C54C870}" destId="{6624E81D-0C11-4F86-A5AB-945F42D406CA}" srcOrd="1" destOrd="0" parTransId="{0E68E44B-DFC9-4458-AFEF-CB1CECE70F5B}" sibTransId="{21DB50A6-B6BF-4781-B9BB-22313E2413BB}"/>
    <dgm:cxn modelId="{51E92AF9-E500-4663-9652-F2E54F8917A9}" type="presOf" srcId="{E4D95AB3-FCCB-452F-8495-062C04374435}" destId="{CD439C93-F7D2-48AF-8678-9581BA60AD7C}" srcOrd="0" destOrd="1" presId="urn:microsoft.com/office/officeart/2008/layout/VerticalCurvedList"/>
    <dgm:cxn modelId="{0156E332-49F8-443B-B4DE-0712E34D4138}" type="presParOf" srcId="{83055D55-A7EF-49E0-93AE-AB3A4E2B1E69}" destId="{1F45CD71-7931-420F-8BF0-F9F6E2172F0E}" srcOrd="0" destOrd="0" presId="urn:microsoft.com/office/officeart/2008/layout/VerticalCurvedList"/>
    <dgm:cxn modelId="{2E83A456-A6CF-4CF6-8B59-A52516B3CCC3}" type="presParOf" srcId="{1F45CD71-7931-420F-8BF0-F9F6E2172F0E}" destId="{A23FB25A-3573-4F94-B5F2-81BC67E7846F}" srcOrd="0" destOrd="0" presId="urn:microsoft.com/office/officeart/2008/layout/VerticalCurvedList"/>
    <dgm:cxn modelId="{EF267829-1592-44D8-A091-A1C1E251CD34}" type="presParOf" srcId="{A23FB25A-3573-4F94-B5F2-81BC67E7846F}" destId="{F190C097-0517-49CE-B7A6-6D05ED33A6AC}" srcOrd="0" destOrd="0" presId="urn:microsoft.com/office/officeart/2008/layout/VerticalCurvedList"/>
    <dgm:cxn modelId="{258DBA3A-5EC8-4175-993F-D85D2F835990}" type="presParOf" srcId="{A23FB25A-3573-4F94-B5F2-81BC67E7846F}" destId="{9189C6AE-EB60-47C4-850E-5907ADE4BCA9}" srcOrd="1" destOrd="0" presId="urn:microsoft.com/office/officeart/2008/layout/VerticalCurvedList"/>
    <dgm:cxn modelId="{6C49399C-CF47-4CF6-888B-AC42685BF52B}" type="presParOf" srcId="{A23FB25A-3573-4F94-B5F2-81BC67E7846F}" destId="{51DE311D-5F8F-4129-BC0A-2064610176A3}" srcOrd="2" destOrd="0" presId="urn:microsoft.com/office/officeart/2008/layout/VerticalCurvedList"/>
    <dgm:cxn modelId="{523E5681-7106-438D-A188-2FBE25A38188}" type="presParOf" srcId="{A23FB25A-3573-4F94-B5F2-81BC67E7846F}" destId="{A28C8E20-C0BC-4FDC-8C08-DCC92DBF612E}" srcOrd="3" destOrd="0" presId="urn:microsoft.com/office/officeart/2008/layout/VerticalCurvedList"/>
    <dgm:cxn modelId="{90C19A0E-078E-4075-B9BA-D204FFEF0531}" type="presParOf" srcId="{1F45CD71-7931-420F-8BF0-F9F6E2172F0E}" destId="{99DC02F1-ED0C-4AF5-B679-702C2EA72C20}" srcOrd="1" destOrd="0" presId="urn:microsoft.com/office/officeart/2008/layout/VerticalCurvedList"/>
    <dgm:cxn modelId="{2F9ADFD0-7D35-44FE-8834-8BDE9A9E3729}" type="presParOf" srcId="{1F45CD71-7931-420F-8BF0-F9F6E2172F0E}" destId="{1FAA8997-9197-4DE8-923D-AE178F83AB25}" srcOrd="2" destOrd="0" presId="urn:microsoft.com/office/officeart/2008/layout/VerticalCurvedList"/>
    <dgm:cxn modelId="{59565A2B-E86E-4212-A6BF-84A02A4D396C}" type="presParOf" srcId="{1FAA8997-9197-4DE8-923D-AE178F83AB25}" destId="{B61262E2-E450-43A2-A0BF-0AD94482B263}" srcOrd="0" destOrd="0" presId="urn:microsoft.com/office/officeart/2008/layout/VerticalCurvedList"/>
    <dgm:cxn modelId="{EAAEBF22-C97E-4511-B7C7-494EA3B7F018}" type="presParOf" srcId="{1F45CD71-7931-420F-8BF0-F9F6E2172F0E}" destId="{D5A4179C-0E00-43B9-B19C-5B361A9639EB}" srcOrd="3" destOrd="0" presId="urn:microsoft.com/office/officeart/2008/layout/VerticalCurvedList"/>
    <dgm:cxn modelId="{67DD4456-594F-453B-ABF7-40CD317FE763}" type="presParOf" srcId="{1F45CD71-7931-420F-8BF0-F9F6E2172F0E}" destId="{70981EF5-391C-4F7F-98D0-ED43C85B738A}" srcOrd="4" destOrd="0" presId="urn:microsoft.com/office/officeart/2008/layout/VerticalCurvedList"/>
    <dgm:cxn modelId="{6A38880D-007C-4A7F-8725-0C0B3712A243}" type="presParOf" srcId="{70981EF5-391C-4F7F-98D0-ED43C85B738A}" destId="{19E8FC56-24B6-4583-8504-824902DA743D}" srcOrd="0" destOrd="0" presId="urn:microsoft.com/office/officeart/2008/layout/VerticalCurvedList"/>
    <dgm:cxn modelId="{B47591F4-2CDE-47BA-9C02-2076D0BD2E0E}" type="presParOf" srcId="{1F45CD71-7931-420F-8BF0-F9F6E2172F0E}" destId="{CD439C93-F7D2-48AF-8678-9581BA60AD7C}" srcOrd="5" destOrd="0" presId="urn:microsoft.com/office/officeart/2008/layout/VerticalCurvedList"/>
    <dgm:cxn modelId="{AE6D37E3-054B-43B3-8163-0D6CFA6A72DD}" type="presParOf" srcId="{1F45CD71-7931-420F-8BF0-F9F6E2172F0E}" destId="{A3A5A1BC-02CC-4FF1-B5C3-06BD5A4F619A}" srcOrd="6" destOrd="0" presId="urn:microsoft.com/office/officeart/2008/layout/VerticalCurvedList"/>
    <dgm:cxn modelId="{82BC930E-281B-451C-B05C-294DC7884890}" type="presParOf" srcId="{A3A5A1BC-02CC-4FF1-B5C3-06BD5A4F619A}" destId="{39B98564-29B6-493A-9B53-C0FD25A8FF2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E33616-5560-4E2F-9862-8C0118139EB8}">
      <dsp:nvSpPr>
        <dsp:cNvPr id="0" name=""/>
        <dsp:cNvSpPr/>
      </dsp:nvSpPr>
      <dsp:spPr>
        <a:xfrm>
          <a:off x="0" y="446575"/>
          <a:ext cx="8128000" cy="13466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0823" tIns="395732" rIns="630823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900" kern="1200" dirty="0"/>
            <a:t>Standard banking databases often lack ACID compliance during system failures and rely on reactive, manual methods to identify suspicious transactions. </a:t>
          </a:r>
          <a:endParaRPr lang="en-IN" sz="1900" kern="1200" dirty="0"/>
        </a:p>
      </dsp:txBody>
      <dsp:txXfrm>
        <a:off x="0" y="446575"/>
        <a:ext cx="8128000" cy="1346625"/>
      </dsp:txXfrm>
    </dsp:sp>
    <dsp:sp modelId="{DF23FABC-13F2-47B6-A4D4-1077F5752648}">
      <dsp:nvSpPr>
        <dsp:cNvPr id="0" name=""/>
        <dsp:cNvSpPr/>
      </dsp:nvSpPr>
      <dsp:spPr>
        <a:xfrm>
          <a:off x="406400" y="166135"/>
          <a:ext cx="5689600" cy="5608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Problem Statement:</a:t>
          </a:r>
          <a:endParaRPr lang="en-IN" sz="1900" kern="1200" dirty="0"/>
        </a:p>
      </dsp:txBody>
      <dsp:txXfrm>
        <a:off x="433780" y="193515"/>
        <a:ext cx="5634840" cy="506120"/>
      </dsp:txXfrm>
    </dsp:sp>
    <dsp:sp modelId="{844F25A5-EB09-44A1-90E8-990890FD70AB}">
      <dsp:nvSpPr>
        <dsp:cNvPr id="0" name=""/>
        <dsp:cNvSpPr/>
      </dsp:nvSpPr>
      <dsp:spPr>
        <a:xfrm>
          <a:off x="0" y="2176241"/>
          <a:ext cx="8128000" cy="13466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5197846"/>
              <a:satOff val="-23984"/>
              <a:lumOff val="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0823" tIns="395732" rIns="630823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900" kern="1200"/>
            <a:t>Financial systems require zero-error tolerance to prevent data loss and need automated, real-time security layers to proactively mitigate fraud. </a:t>
          </a:r>
        </a:p>
      </dsp:txBody>
      <dsp:txXfrm>
        <a:off x="0" y="2176241"/>
        <a:ext cx="8128000" cy="1346625"/>
      </dsp:txXfrm>
    </dsp:sp>
    <dsp:sp modelId="{FD041ECC-BED2-46DC-BA7A-87FB50662385}">
      <dsp:nvSpPr>
        <dsp:cNvPr id="0" name=""/>
        <dsp:cNvSpPr/>
      </dsp:nvSpPr>
      <dsp:spPr>
        <a:xfrm>
          <a:off x="406400" y="1895801"/>
          <a:ext cx="5689600" cy="560880"/>
        </a:xfrm>
        <a:prstGeom prst="roundRect">
          <a:avLst/>
        </a:prstGeom>
        <a:solidFill>
          <a:schemeClr val="accent4">
            <a:hueOff val="5197846"/>
            <a:satOff val="-23984"/>
            <a:lumOff val="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Motivation:</a:t>
          </a:r>
        </a:p>
      </dsp:txBody>
      <dsp:txXfrm>
        <a:off x="433780" y="1923181"/>
        <a:ext cx="5634840" cy="506120"/>
      </dsp:txXfrm>
    </dsp:sp>
    <dsp:sp modelId="{6BF2FD6F-45F3-4538-B3E9-2AD43C9C238E}">
      <dsp:nvSpPr>
        <dsp:cNvPr id="0" name=""/>
        <dsp:cNvSpPr/>
      </dsp:nvSpPr>
      <dsp:spPr>
        <a:xfrm>
          <a:off x="0" y="3905906"/>
          <a:ext cx="8128000" cy="13466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10395692"/>
              <a:satOff val="-47968"/>
              <a:lumOff val="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0823" tIns="395732" rIns="630823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900" kern="1200"/>
            <a:t>To develop a secure core banking system that utilizes an ACID-compliant transaction engine and SQL-driven behavioral analytics to ensure data integrity and real-time fraud monitoring.</a:t>
          </a:r>
          <a:endParaRPr lang="en-IN" sz="1900" kern="1200" dirty="0"/>
        </a:p>
      </dsp:txBody>
      <dsp:txXfrm>
        <a:off x="0" y="3905906"/>
        <a:ext cx="8128000" cy="1346625"/>
      </dsp:txXfrm>
    </dsp:sp>
    <dsp:sp modelId="{D772762F-0DF0-40F6-84FB-3A80B5C5AD56}">
      <dsp:nvSpPr>
        <dsp:cNvPr id="0" name=""/>
        <dsp:cNvSpPr/>
      </dsp:nvSpPr>
      <dsp:spPr>
        <a:xfrm>
          <a:off x="406400" y="3625466"/>
          <a:ext cx="5689600" cy="560880"/>
        </a:xfrm>
        <a:prstGeom prst="roundRect">
          <a:avLst/>
        </a:prstGeom>
        <a:solidFill>
          <a:schemeClr val="accent4">
            <a:hueOff val="10395692"/>
            <a:satOff val="-47968"/>
            <a:lumOff val="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Project Goal:</a:t>
          </a:r>
          <a:endParaRPr lang="en-IN" sz="1900" kern="1200" dirty="0"/>
        </a:p>
      </dsp:txBody>
      <dsp:txXfrm>
        <a:off x="433780" y="3652846"/>
        <a:ext cx="5634840" cy="5061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316838-1619-4AB8-922E-A0F90AE3CE91}">
      <dsp:nvSpPr>
        <dsp:cNvPr id="0" name=""/>
        <dsp:cNvSpPr/>
      </dsp:nvSpPr>
      <dsp:spPr>
        <a:xfrm>
          <a:off x="3751" y="350424"/>
          <a:ext cx="1918878" cy="9875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53340" rIns="149352" bIns="53340" numCol="1" spcCol="1270" anchor="ctr" anchorCtr="0">
          <a:noAutofit/>
        </a:bodyPr>
        <a:lstStyle/>
        <a:p>
          <a:pPr marL="0" lvl="0" indent="0" algn="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ACID-Compliant Transaction </a:t>
          </a:r>
        </a:p>
      </dsp:txBody>
      <dsp:txXfrm>
        <a:off x="3751" y="350424"/>
        <a:ext cx="1918878" cy="987525"/>
      </dsp:txXfrm>
    </dsp:sp>
    <dsp:sp modelId="{5C8F8ED3-CF8B-4AE8-8AF0-77D03F15AFD3}">
      <dsp:nvSpPr>
        <dsp:cNvPr id="0" name=""/>
        <dsp:cNvSpPr/>
      </dsp:nvSpPr>
      <dsp:spPr>
        <a:xfrm>
          <a:off x="1922630" y="319563"/>
          <a:ext cx="383775" cy="1049245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35013D-493C-43F4-9915-51599460317B}">
      <dsp:nvSpPr>
        <dsp:cNvPr id="0" name=""/>
        <dsp:cNvSpPr/>
      </dsp:nvSpPr>
      <dsp:spPr>
        <a:xfrm>
          <a:off x="2459916" y="319563"/>
          <a:ext cx="5219350" cy="104924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100" kern="1200" dirty="0"/>
            <a:t>Uses relational architecture (e.g., Temenos) to ensure atomic, durable transfers, preventing data loss during system failures.</a:t>
          </a:r>
          <a:endParaRPr lang="en-IN" sz="2100" kern="1200" dirty="0"/>
        </a:p>
      </dsp:txBody>
      <dsp:txXfrm>
        <a:off x="2459916" y="319563"/>
        <a:ext cx="5219350" cy="1049245"/>
      </dsp:txXfrm>
    </dsp:sp>
    <dsp:sp modelId="{1889E1D2-635A-4350-8B23-44F2019F0CA5}">
      <dsp:nvSpPr>
        <dsp:cNvPr id="0" name=""/>
        <dsp:cNvSpPr/>
      </dsp:nvSpPr>
      <dsp:spPr>
        <a:xfrm>
          <a:off x="3751" y="1475269"/>
          <a:ext cx="1918878" cy="9875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53340" rIns="149352" bIns="53340" numCol="1" spcCol="1270" anchor="ctr" anchorCtr="0">
          <a:noAutofit/>
        </a:bodyPr>
        <a:lstStyle/>
        <a:p>
          <a:pPr marL="0" lvl="0" indent="0" algn="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SQL-Based Real-Time Triggers</a:t>
          </a:r>
        </a:p>
      </dsp:txBody>
      <dsp:txXfrm>
        <a:off x="3751" y="1475269"/>
        <a:ext cx="1918878" cy="987525"/>
      </dsp:txXfrm>
    </dsp:sp>
    <dsp:sp modelId="{39A8B3FF-2C33-4AC3-BA16-469F6228FE73}">
      <dsp:nvSpPr>
        <dsp:cNvPr id="0" name=""/>
        <dsp:cNvSpPr/>
      </dsp:nvSpPr>
      <dsp:spPr>
        <a:xfrm>
          <a:off x="1922630" y="1444409"/>
          <a:ext cx="383775" cy="1049245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AF38E3-9D0C-4214-ABF9-585A856D4207}">
      <dsp:nvSpPr>
        <dsp:cNvPr id="0" name=""/>
        <dsp:cNvSpPr/>
      </dsp:nvSpPr>
      <dsp:spPr>
        <a:xfrm>
          <a:off x="2459916" y="1444409"/>
          <a:ext cx="5219350" cy="1049245"/>
        </a:xfrm>
        <a:prstGeom prst="rect">
          <a:avLst/>
        </a:prstGeom>
        <a:solidFill>
          <a:schemeClr val="accent5">
            <a:hueOff val="-2451115"/>
            <a:satOff val="-3409"/>
            <a:lumOff val="-130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100" kern="1200" dirty="0"/>
            <a:t>Pushes security logic to the database layer to immediately flag high-value or high-velocity fraud at the point of entry. </a:t>
          </a:r>
          <a:endParaRPr lang="en-IN" sz="2100" kern="1200" dirty="0"/>
        </a:p>
      </dsp:txBody>
      <dsp:txXfrm>
        <a:off x="2459916" y="1444409"/>
        <a:ext cx="5219350" cy="1049245"/>
      </dsp:txXfrm>
    </dsp:sp>
    <dsp:sp modelId="{7E907A86-3E1A-42B5-8D5A-A1D2F79DAA9F}">
      <dsp:nvSpPr>
        <dsp:cNvPr id="0" name=""/>
        <dsp:cNvSpPr/>
      </dsp:nvSpPr>
      <dsp:spPr>
        <a:xfrm>
          <a:off x="3751" y="2600114"/>
          <a:ext cx="1918878" cy="9875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53340" rIns="149352" bIns="53340" numCol="1" spcCol="1270" anchor="ctr" anchorCtr="0">
          <a:noAutofit/>
        </a:bodyPr>
        <a:lstStyle/>
        <a:p>
          <a:pPr marL="0" lvl="0" indent="0" algn="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Behavioural Anomaly Detection</a:t>
          </a:r>
        </a:p>
      </dsp:txBody>
      <dsp:txXfrm>
        <a:off x="3751" y="2600114"/>
        <a:ext cx="1918878" cy="987525"/>
      </dsp:txXfrm>
    </dsp:sp>
    <dsp:sp modelId="{EA374687-D33E-4A53-B400-6E736BDF4423}">
      <dsp:nvSpPr>
        <dsp:cNvPr id="0" name=""/>
        <dsp:cNvSpPr/>
      </dsp:nvSpPr>
      <dsp:spPr>
        <a:xfrm>
          <a:off x="1922630" y="2569254"/>
          <a:ext cx="383775" cy="1049245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C55604-450C-4C88-9F40-1EEC449B4434}">
      <dsp:nvSpPr>
        <dsp:cNvPr id="0" name=""/>
        <dsp:cNvSpPr/>
      </dsp:nvSpPr>
      <dsp:spPr>
        <a:xfrm>
          <a:off x="2459916" y="2569254"/>
          <a:ext cx="5219350" cy="1049245"/>
        </a:xfrm>
        <a:prstGeom prst="rect">
          <a:avLst/>
        </a:prstGeom>
        <a:solidFill>
          <a:schemeClr val="accent5">
            <a:hueOff val="-4902230"/>
            <a:satOff val="-6819"/>
            <a:lumOff val="-261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100" kern="1200" dirty="0"/>
            <a:t>Establishes user baselines through peak usage heatmaps and velocity checks to proactively identify statistical outliers.</a:t>
          </a:r>
          <a:endParaRPr lang="en-IN" sz="2100" kern="1200" dirty="0"/>
        </a:p>
      </dsp:txBody>
      <dsp:txXfrm>
        <a:off x="2459916" y="2569254"/>
        <a:ext cx="5219350" cy="1049245"/>
      </dsp:txXfrm>
    </dsp:sp>
    <dsp:sp modelId="{B1A3E4B4-AF9E-4711-8489-E19C6194D75D}">
      <dsp:nvSpPr>
        <dsp:cNvPr id="0" name=""/>
        <dsp:cNvSpPr/>
      </dsp:nvSpPr>
      <dsp:spPr>
        <a:xfrm>
          <a:off x="3751" y="3724959"/>
          <a:ext cx="1918878" cy="9875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53340" rIns="149352" bIns="53340" numCol="1" spcCol="1270" anchor="ctr" anchorCtr="0">
          <a:noAutofit/>
        </a:bodyPr>
        <a:lstStyle/>
        <a:p>
          <a:pPr marL="0" lvl="0" indent="0" algn="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Role-Based Integrated Dashboards</a:t>
          </a:r>
        </a:p>
      </dsp:txBody>
      <dsp:txXfrm>
        <a:off x="3751" y="3724959"/>
        <a:ext cx="1918878" cy="987525"/>
      </dsp:txXfrm>
    </dsp:sp>
    <dsp:sp modelId="{2F3DDD0B-F3C7-4B51-AC52-FC7AF72A33A1}">
      <dsp:nvSpPr>
        <dsp:cNvPr id="0" name=""/>
        <dsp:cNvSpPr/>
      </dsp:nvSpPr>
      <dsp:spPr>
        <a:xfrm>
          <a:off x="1922630" y="3694099"/>
          <a:ext cx="383775" cy="1049245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B27435-5934-4E7A-9777-845651AC1B28}">
      <dsp:nvSpPr>
        <dsp:cNvPr id="0" name=""/>
        <dsp:cNvSpPr/>
      </dsp:nvSpPr>
      <dsp:spPr>
        <a:xfrm>
          <a:off x="2459916" y="3694099"/>
          <a:ext cx="5219350" cy="1049245"/>
        </a:xfrm>
        <a:prstGeom prst="rect">
          <a:avLst/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100" kern="1200" dirty="0"/>
            <a:t>Provides distinct interfaces (</a:t>
          </a:r>
          <a:r>
            <a:rPr lang="en-US" sz="2100" kern="1200" dirty="0" err="1"/>
            <a:t>Streamlit</a:t>
          </a:r>
          <a:r>
            <a:rPr lang="en-US" sz="2100" kern="1200" dirty="0"/>
            <a:t>/Power BI) separating daily staff operations from executive strategic insights. </a:t>
          </a:r>
          <a:endParaRPr lang="en-IN" sz="2100" kern="1200" dirty="0"/>
        </a:p>
      </dsp:txBody>
      <dsp:txXfrm>
        <a:off x="2459916" y="3694099"/>
        <a:ext cx="5219350" cy="104924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7CC7D4-5947-40AC-B959-A4FE452E4D10}">
      <dsp:nvSpPr>
        <dsp:cNvPr id="0" name=""/>
        <dsp:cNvSpPr/>
      </dsp:nvSpPr>
      <dsp:spPr>
        <a:xfrm rot="5400000">
          <a:off x="555882" y="1675963"/>
          <a:ext cx="1672361" cy="2782771"/>
        </a:xfrm>
        <a:prstGeom prst="corner">
          <a:avLst>
            <a:gd name="adj1" fmla="val 16120"/>
            <a:gd name="adj2" fmla="val 1611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15397A-9C9A-4F24-BAD3-59C17B1E9601}">
      <dsp:nvSpPr>
        <dsp:cNvPr id="0" name=""/>
        <dsp:cNvSpPr/>
      </dsp:nvSpPr>
      <dsp:spPr>
        <a:xfrm>
          <a:off x="276723" y="2507413"/>
          <a:ext cx="2512302" cy="2202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i="0" kern="1200" dirty="0"/>
            <a:t>Data Ingestion &amp; Storage</a:t>
          </a:r>
          <a:endParaRPr lang="en-IN" sz="21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b="0" i="0" kern="1200"/>
            <a:t>Converts raw banking CSV files into normalized SQL tables and keeps them query‑ready for analytics.</a:t>
          </a:r>
          <a:endParaRPr lang="en-IN" sz="1600" kern="1200"/>
        </a:p>
      </dsp:txBody>
      <dsp:txXfrm>
        <a:off x="276723" y="2507413"/>
        <a:ext cx="2512302" cy="2202180"/>
      </dsp:txXfrm>
    </dsp:sp>
    <dsp:sp modelId="{3D10F29A-8391-4C6A-8638-246BC9AE8984}">
      <dsp:nvSpPr>
        <dsp:cNvPr id="0" name=""/>
        <dsp:cNvSpPr/>
      </dsp:nvSpPr>
      <dsp:spPr>
        <a:xfrm>
          <a:off x="2315006" y="1471092"/>
          <a:ext cx="474019" cy="474019"/>
        </a:xfrm>
        <a:prstGeom prst="triangle">
          <a:avLst>
            <a:gd name="adj" fmla="val 1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A57DCB-AAA1-4DCE-A157-8F6A24DBB737}">
      <dsp:nvSpPr>
        <dsp:cNvPr id="0" name=""/>
        <dsp:cNvSpPr/>
      </dsp:nvSpPr>
      <dsp:spPr>
        <a:xfrm rot="5400000">
          <a:off x="3631430" y="914916"/>
          <a:ext cx="1672361" cy="2782771"/>
        </a:xfrm>
        <a:prstGeom prst="corner">
          <a:avLst>
            <a:gd name="adj1" fmla="val 16120"/>
            <a:gd name="adj2" fmla="val 1611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6F343C-1117-4470-9B49-19F2A9C457F6}">
      <dsp:nvSpPr>
        <dsp:cNvPr id="0" name=""/>
        <dsp:cNvSpPr/>
      </dsp:nvSpPr>
      <dsp:spPr>
        <a:xfrm>
          <a:off x="3352272" y="1746365"/>
          <a:ext cx="2512302" cy="2202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i="0" kern="1200" dirty="0"/>
            <a:t>Analytics &amp; Fraud Detection Engine</a:t>
          </a:r>
          <a:endParaRPr lang="en-IN" sz="21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b="0" i="0" kern="1200"/>
            <a:t>Runs statistical profiling, visual analytics, and rule‑based fraud checks on transactions.</a:t>
          </a:r>
          <a:endParaRPr lang="en-IN" sz="1600" kern="1200" dirty="0"/>
        </a:p>
      </dsp:txBody>
      <dsp:txXfrm>
        <a:off x="3352272" y="1746365"/>
        <a:ext cx="2512302" cy="2202180"/>
      </dsp:txXfrm>
    </dsp:sp>
    <dsp:sp modelId="{76BBAE0D-1C67-4C36-B538-1C990055C4A6}">
      <dsp:nvSpPr>
        <dsp:cNvPr id="0" name=""/>
        <dsp:cNvSpPr/>
      </dsp:nvSpPr>
      <dsp:spPr>
        <a:xfrm>
          <a:off x="5390555" y="710045"/>
          <a:ext cx="474019" cy="474019"/>
        </a:xfrm>
        <a:prstGeom prst="triangle">
          <a:avLst>
            <a:gd name="adj" fmla="val 10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6BA724-DA55-42B7-8DE1-0AE9C5B62084}">
      <dsp:nvSpPr>
        <dsp:cNvPr id="0" name=""/>
        <dsp:cNvSpPr/>
      </dsp:nvSpPr>
      <dsp:spPr>
        <a:xfrm rot="5400000">
          <a:off x="6706979" y="153868"/>
          <a:ext cx="1672361" cy="2782771"/>
        </a:xfrm>
        <a:prstGeom prst="corner">
          <a:avLst>
            <a:gd name="adj1" fmla="val 16120"/>
            <a:gd name="adj2" fmla="val 1611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55557B-3C39-4D3E-A864-C11102545CD2}">
      <dsp:nvSpPr>
        <dsp:cNvPr id="0" name=""/>
        <dsp:cNvSpPr/>
      </dsp:nvSpPr>
      <dsp:spPr>
        <a:xfrm>
          <a:off x="6427820" y="985317"/>
          <a:ext cx="2512302" cy="2202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i="0" kern="1200" dirty="0"/>
            <a:t>Secure Transaction &amp; BI Interface</a:t>
          </a:r>
          <a:endParaRPr lang="en-IN" sz="21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b="0" i="0" kern="1200"/>
            <a:t>Streamlit web app providing secure transfers, loan workflows, and admin/customer dashboards.</a:t>
          </a:r>
          <a:endParaRPr lang="en-IN" sz="1600" kern="1200" dirty="0"/>
        </a:p>
      </dsp:txBody>
      <dsp:txXfrm>
        <a:off x="6427820" y="985317"/>
        <a:ext cx="2512302" cy="22021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19726A-ED0F-4364-A9F9-51405334138A}">
      <dsp:nvSpPr>
        <dsp:cNvPr id="0" name=""/>
        <dsp:cNvSpPr/>
      </dsp:nvSpPr>
      <dsp:spPr>
        <a:xfrm>
          <a:off x="1285398" y="54391"/>
          <a:ext cx="2610802" cy="2610802"/>
        </a:xfrm>
        <a:prstGeom prst="ellipse">
          <a:avLst/>
        </a:prstGeom>
        <a:solidFill>
          <a:schemeClr val="accent5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i="0" kern="1200" dirty="0"/>
            <a:t>Fraud velocity rule</a:t>
          </a:r>
          <a:endParaRPr lang="en-IN" sz="13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b="0" i="0" kern="1200"/>
            <a:t>The fraud velocity query ranks high‑frequency accounts; the top account (FromAccountID 1037) has 11 transfers, with many others in the 7–10 range.</a:t>
          </a:r>
          <a:endParaRPr lang="en-IN" sz="1000" kern="1200" dirty="0"/>
        </a:p>
      </dsp:txBody>
      <dsp:txXfrm>
        <a:off x="1633505" y="511282"/>
        <a:ext cx="1914588" cy="1174861"/>
      </dsp:txXfrm>
    </dsp:sp>
    <dsp:sp modelId="{0F84A423-9232-4A3E-BA67-AE26670B1233}">
      <dsp:nvSpPr>
        <dsp:cNvPr id="0" name=""/>
        <dsp:cNvSpPr/>
      </dsp:nvSpPr>
      <dsp:spPr>
        <a:xfrm>
          <a:off x="2227463" y="1686143"/>
          <a:ext cx="2610802" cy="2610802"/>
        </a:xfrm>
        <a:prstGeom prst="ellipse">
          <a:avLst/>
        </a:prstGeom>
        <a:solidFill>
          <a:schemeClr val="accent5">
            <a:alpha val="50000"/>
            <a:hueOff val="-3676672"/>
            <a:satOff val="-5114"/>
            <a:lumOff val="-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i="0" kern="1200" dirty="0"/>
            <a:t>High‑value transaction rule</a:t>
          </a:r>
          <a:endParaRPr lang="en-IN" sz="13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b="0" i="0" kern="1200"/>
            <a:t>Any transfer ≥ 10,000 is automatically logged into FraudAlerts with a high risk score, so big transactions always appear on the Compliance screen.</a:t>
          </a:r>
          <a:endParaRPr lang="en-IN" sz="1000" kern="1200" dirty="0"/>
        </a:p>
      </dsp:txBody>
      <dsp:txXfrm>
        <a:off x="3025933" y="2360600"/>
        <a:ext cx="1566481" cy="1435941"/>
      </dsp:txXfrm>
    </dsp:sp>
    <dsp:sp modelId="{351CA544-2F98-4113-AF2F-26761CB643B9}">
      <dsp:nvSpPr>
        <dsp:cNvPr id="0" name=""/>
        <dsp:cNvSpPr/>
      </dsp:nvSpPr>
      <dsp:spPr>
        <a:xfrm>
          <a:off x="343333" y="1686143"/>
          <a:ext cx="2610802" cy="2610802"/>
        </a:xfrm>
        <a:prstGeom prst="ellipse">
          <a:avLst/>
        </a:prstGeom>
        <a:solidFill>
          <a:schemeClr val="accent5">
            <a:alpha val="50000"/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i="0" kern="1200" dirty="0"/>
            <a:t>Dashboard responsiveness</a:t>
          </a:r>
          <a:endParaRPr lang="en-IN" sz="13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b="0" i="0" kern="1200"/>
            <a:t>Because SQLite computes aggregates and the app plots only recent data (last 50 transactions, top account types), the Streamlit dashboard stays fast and responsive.</a:t>
          </a:r>
          <a:endParaRPr lang="en-IN" sz="1000" kern="1200" dirty="0"/>
        </a:p>
      </dsp:txBody>
      <dsp:txXfrm>
        <a:off x="589184" y="2360600"/>
        <a:ext cx="1566481" cy="143594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89C6AE-EB60-47C4-850E-5907ADE4BCA9}">
      <dsp:nvSpPr>
        <dsp:cNvPr id="0" name=""/>
        <dsp:cNvSpPr/>
      </dsp:nvSpPr>
      <dsp:spPr>
        <a:xfrm>
          <a:off x="-4919424" y="-753830"/>
          <a:ext cx="5858998" cy="5858998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DC02F1-ED0C-4AF5-B679-702C2EA72C20}">
      <dsp:nvSpPr>
        <dsp:cNvPr id="0" name=""/>
        <dsp:cNvSpPr/>
      </dsp:nvSpPr>
      <dsp:spPr>
        <a:xfrm>
          <a:off x="604289" y="435133"/>
          <a:ext cx="4517585" cy="87026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0775" tIns="38100" rIns="38100" bIns="381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i="0" kern="1200" dirty="0"/>
            <a:t>Transaction pattern</a:t>
          </a:r>
          <a:endParaRPr lang="en-IN" sz="15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b="0" i="0" kern="1200"/>
            <a:t>Most transactions are small or mid‑value, with a few very large ones above 10,000, so a high‑value fraud rule is justified.</a:t>
          </a:r>
          <a:endParaRPr lang="en-IN" sz="1200" kern="1200"/>
        </a:p>
      </dsp:txBody>
      <dsp:txXfrm>
        <a:off x="604289" y="435133"/>
        <a:ext cx="4517585" cy="870267"/>
      </dsp:txXfrm>
    </dsp:sp>
    <dsp:sp modelId="{B61262E2-E450-43A2-A0BF-0AD94482B263}">
      <dsp:nvSpPr>
        <dsp:cNvPr id="0" name=""/>
        <dsp:cNvSpPr/>
      </dsp:nvSpPr>
      <dsp:spPr>
        <a:xfrm>
          <a:off x="60372" y="326350"/>
          <a:ext cx="1087834" cy="10878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A4179C-0E00-43B9-B19C-5B361A9639EB}">
      <dsp:nvSpPr>
        <dsp:cNvPr id="0" name=""/>
        <dsp:cNvSpPr/>
      </dsp:nvSpPr>
      <dsp:spPr>
        <a:xfrm>
          <a:off x="920631" y="1740535"/>
          <a:ext cx="4201243" cy="870267"/>
        </a:xfrm>
        <a:prstGeom prst="rect">
          <a:avLst/>
        </a:prstGeom>
        <a:solidFill>
          <a:schemeClr val="accent5">
            <a:hueOff val="-3676672"/>
            <a:satOff val="-5114"/>
            <a:lumOff val="-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0775" tIns="38100" rIns="38100" bIns="381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i="0" kern="1200" dirty="0"/>
            <a:t>Velocity‑based risk</a:t>
          </a:r>
          <a:endParaRPr lang="en-IN" sz="15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b="0" i="0" kern="1200"/>
            <a:t>Velocity checks highlight a small set of accounts with unusually many transfers (around 8–11), suggesting possible automated or mule activity.</a:t>
          </a:r>
          <a:endParaRPr lang="en-IN" sz="1200" kern="1200" dirty="0"/>
        </a:p>
      </dsp:txBody>
      <dsp:txXfrm>
        <a:off x="920631" y="1740535"/>
        <a:ext cx="4201243" cy="870267"/>
      </dsp:txXfrm>
    </dsp:sp>
    <dsp:sp modelId="{19E8FC56-24B6-4583-8504-824902DA743D}">
      <dsp:nvSpPr>
        <dsp:cNvPr id="0" name=""/>
        <dsp:cNvSpPr/>
      </dsp:nvSpPr>
      <dsp:spPr>
        <a:xfrm>
          <a:off x="376714" y="1631751"/>
          <a:ext cx="1087834" cy="10878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3676672"/>
              <a:satOff val="-5114"/>
              <a:lumOff val="-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439C93-F7D2-48AF-8678-9581BA60AD7C}">
      <dsp:nvSpPr>
        <dsp:cNvPr id="0" name=""/>
        <dsp:cNvSpPr/>
      </dsp:nvSpPr>
      <dsp:spPr>
        <a:xfrm>
          <a:off x="604289" y="3045936"/>
          <a:ext cx="4517585" cy="870267"/>
        </a:xfrm>
        <a:prstGeom prst="rect">
          <a:avLst/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0775" tIns="38100" rIns="38100" bIns="381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i="0" kern="1200" dirty="0"/>
            <a:t>Customer and product mix</a:t>
          </a:r>
          <a:endParaRPr lang="en-IN" sz="15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b="0" i="0" kern="1200"/>
            <a:t>Segmentation shows Savings accounts are the majority, with meaningful Business/Current/Loan segments, indicating where liquidity and volume are concentrated.</a:t>
          </a:r>
          <a:endParaRPr lang="en-IN" sz="1200" kern="1200" dirty="0"/>
        </a:p>
      </dsp:txBody>
      <dsp:txXfrm>
        <a:off x="604289" y="3045936"/>
        <a:ext cx="4517585" cy="870267"/>
      </dsp:txXfrm>
    </dsp:sp>
    <dsp:sp modelId="{39B98564-29B6-493A-9B53-C0FD25A8FF23}">
      <dsp:nvSpPr>
        <dsp:cNvPr id="0" name=""/>
        <dsp:cNvSpPr/>
      </dsp:nvSpPr>
      <dsp:spPr>
        <a:xfrm>
          <a:off x="60372" y="2937153"/>
          <a:ext cx="1087834" cy="10878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7353344"/>
              <a:satOff val="-10228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0268B-9E16-4EBD-B09B-E958DEB78CDB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A75E7-479A-44A4-B6E4-9F4040B232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024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0268B-9E16-4EBD-B09B-E958DEB78CDB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A75E7-479A-44A4-B6E4-9F4040B232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571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0268B-9E16-4EBD-B09B-E958DEB78CDB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A75E7-479A-44A4-B6E4-9F4040B232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0523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0268B-9E16-4EBD-B09B-E958DEB78CDB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A75E7-479A-44A4-B6E4-9F4040B232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130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0268B-9E16-4EBD-B09B-E958DEB78CDB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A75E7-479A-44A4-B6E4-9F4040B232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505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0268B-9E16-4EBD-B09B-E958DEB78CDB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A75E7-479A-44A4-B6E4-9F4040B232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0699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0268B-9E16-4EBD-B09B-E958DEB78CDB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A75E7-479A-44A4-B6E4-9F4040B232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419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0268B-9E16-4EBD-B09B-E958DEB78CDB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A75E7-479A-44A4-B6E4-9F4040B232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48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0268B-9E16-4EBD-B09B-E958DEB78CDB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A75E7-479A-44A4-B6E4-9F4040B232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858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0268B-9E16-4EBD-B09B-E958DEB78CDB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A75E7-479A-44A4-B6E4-9F4040B232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12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0268B-9E16-4EBD-B09B-E958DEB78CDB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A75E7-479A-44A4-B6E4-9F4040B232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838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F0268B-9E16-4EBD-B09B-E958DEB78CDB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EA75E7-479A-44A4-B6E4-9F4040B232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8465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andas.pydata.org/docs/pandas.pydata" TargetMode="External"/><Relationship Id="rId7" Type="http://schemas.openxmlformats.org/officeDocument/2006/relationships/hyperlink" Target="https://dev.to/agustin_bereciartua/building-a-fraud-detection-system-in-python-with-machine-learning-1p3n" TargetMode="External"/><Relationship Id="rId2" Type="http://schemas.openxmlformats.org/officeDocument/2006/relationships/hyperlink" Target="https://docs.streamlit.iostreamlit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shakhscode/VisualAnalyticsUsingGraphNetworks" TargetMode="External"/><Relationship Id="rId5" Type="http://schemas.openxmlformats.org/officeDocument/2006/relationships/hyperlink" Target="https://instantaccept.com/glossary/velocity-rules/instantaccept" TargetMode="External"/><Relationship Id="rId4" Type="http://schemas.openxmlformats.org/officeDocument/2006/relationships/hyperlink" Target="https://www.checkout.com/blog/velocity-checkcheckout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9845FB17-03A8-40BA-B0D2-03354FD827B2}"/>
              </a:ext>
            </a:extLst>
          </p:cNvPr>
          <p:cNvSpPr txBox="1"/>
          <p:nvPr/>
        </p:nvSpPr>
        <p:spPr>
          <a:xfrm>
            <a:off x="2546981" y="580766"/>
            <a:ext cx="8178932" cy="2308324"/>
          </a:xfrm>
          <a:prstGeom prst="rect">
            <a:avLst/>
          </a:prstGeom>
          <a:solidFill>
            <a:srgbClr val="A6CBEC">
              <a:alpha val="14000"/>
            </a:srgbClr>
          </a:solidFill>
          <a:effectLst>
            <a:glow rad="63500">
              <a:schemeClr val="accent3">
                <a:satMod val="175000"/>
                <a:alpha val="23000"/>
              </a:schemeClr>
            </a:glow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Secure Core Banking System with ACID Compliance &amp; Real-Time Fraud Detection</a:t>
            </a:r>
            <a:endParaRPr lang="en-IN" sz="4800" dirty="0">
              <a:effectLst>
                <a:innerShdw blurRad="63500" dist="50800">
                  <a:prstClr val="black">
                    <a:alpha val="50000"/>
                  </a:prstClr>
                </a:innerShdw>
              </a:effectLs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068396-D58A-450E-8B6C-EAD913CB9588}"/>
              </a:ext>
            </a:extLst>
          </p:cNvPr>
          <p:cNvSpPr txBox="1"/>
          <p:nvPr/>
        </p:nvSpPr>
        <p:spPr>
          <a:xfrm>
            <a:off x="1280160" y="3068014"/>
            <a:ext cx="1035503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rgbClr val="0B3C5D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</a:rPr>
              <a:t>Zenus Dash </a:t>
            </a:r>
          </a:p>
          <a:p>
            <a:r>
              <a:rPr lang="en-IN" sz="4400" dirty="0">
                <a:solidFill>
                  <a:srgbClr val="000000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</a:rPr>
              <a:t>Regd.- 2201289227</a:t>
            </a:r>
          </a:p>
          <a:p>
            <a:r>
              <a:rPr lang="en-IN" sz="4400" dirty="0">
                <a:solidFill>
                  <a:srgbClr val="000000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</a:rPr>
              <a:t>Department: CSE</a:t>
            </a:r>
          </a:p>
          <a:p>
            <a:r>
              <a:rPr lang="en-IN" sz="4400" dirty="0">
                <a:solidFill>
                  <a:srgbClr val="000000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</a:rPr>
              <a:t>Trident Academy of Technology</a:t>
            </a:r>
          </a:p>
          <a:p>
            <a:r>
              <a:rPr lang="en-IN" sz="4400" dirty="0">
                <a:solidFill>
                  <a:srgbClr val="000000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</a:rPr>
              <a:t>Dr. </a:t>
            </a:r>
            <a:r>
              <a:rPr lang="en-IN" sz="4400" dirty="0" err="1">
                <a:solidFill>
                  <a:srgbClr val="000000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</a:rPr>
              <a:t>Sashibhusan</a:t>
            </a:r>
            <a:r>
              <a:rPr lang="en-IN" sz="4400" dirty="0">
                <a:solidFill>
                  <a:srgbClr val="000000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</a:rPr>
              <a:t> Parida</a:t>
            </a:r>
            <a:endParaRPr lang="en-US" sz="4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47670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F1D086C-4340-4A5B-9D09-6F5B31B1156E}"/>
              </a:ext>
            </a:extLst>
          </p:cNvPr>
          <p:cNvSpPr txBox="1"/>
          <p:nvPr/>
        </p:nvSpPr>
        <p:spPr>
          <a:xfrm>
            <a:off x="325127" y="161326"/>
            <a:ext cx="53117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0B3C5D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</a:rPr>
              <a:t>1. Introduction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3394A91-CBBD-0284-0D76-1DD307FF5C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6891920"/>
              </p:ext>
            </p:extLst>
          </p:nvPr>
        </p:nvGraphicFramePr>
        <p:xfrm>
          <a:off x="2309792" y="89328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84218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F1D086C-4340-4A5B-9D09-6F5B31B1156E}"/>
              </a:ext>
            </a:extLst>
          </p:cNvPr>
          <p:cNvSpPr txBox="1"/>
          <p:nvPr/>
        </p:nvSpPr>
        <p:spPr>
          <a:xfrm>
            <a:off x="464022" y="305983"/>
            <a:ext cx="97616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0B3C5D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</a:rPr>
              <a:t>2. Review of Existing/Related Solutions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54DF813-058E-295E-CA26-54E06856CC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90053739"/>
              </p:ext>
            </p:extLst>
          </p:nvPr>
        </p:nvGraphicFramePr>
        <p:xfrm>
          <a:off x="2476982" y="1075424"/>
          <a:ext cx="7683018" cy="50629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87513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F1D086C-4340-4A5B-9D09-6F5B31B1156E}"/>
              </a:ext>
            </a:extLst>
          </p:cNvPr>
          <p:cNvSpPr txBox="1"/>
          <p:nvPr/>
        </p:nvSpPr>
        <p:spPr>
          <a:xfrm>
            <a:off x="464024" y="305983"/>
            <a:ext cx="48176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0B3C5D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</a:rPr>
              <a:t>3. Module Designs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9B4786B-86E6-5515-A66F-5995DDE8E4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8647886"/>
              </p:ext>
            </p:extLst>
          </p:nvPr>
        </p:nvGraphicFramePr>
        <p:xfrm>
          <a:off x="1821688" y="1075424"/>
          <a:ext cx="89408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05474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F1D086C-4340-4A5B-9D09-6F5B31B1156E}"/>
              </a:ext>
            </a:extLst>
          </p:cNvPr>
          <p:cNvSpPr txBox="1"/>
          <p:nvPr/>
        </p:nvSpPr>
        <p:spPr>
          <a:xfrm>
            <a:off x="464024" y="305983"/>
            <a:ext cx="48176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4400" b="1" dirty="0">
              <a:solidFill>
                <a:schemeClr val="accent6">
                  <a:lumMod val="40000"/>
                  <a:lumOff val="60000"/>
                </a:schemeClr>
              </a:solidFill>
              <a:effectLst>
                <a:innerShdw blurRad="63500" dist="50800">
                  <a:prstClr val="black">
                    <a:alpha val="50000"/>
                  </a:prstClr>
                </a:innerShdw>
              </a:effectLs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123237-B305-3241-2E50-F0787D30A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Implementations &amp; Tastings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64E76-BC87-09E7-4270-54A5506A805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 marL="457200" lvl="1" indent="0" algn="ctr">
              <a:buNone/>
            </a:pPr>
            <a:r>
              <a:rPr lang="en-IN" sz="3600" b="1" dirty="0"/>
              <a:t>Implementation platform</a:t>
            </a:r>
          </a:p>
          <a:p>
            <a:pPr marL="228600" lvl="1">
              <a:spcBef>
                <a:spcPts val="1000"/>
              </a:spcBef>
            </a:pPr>
            <a:r>
              <a:rPr lang="en-US" sz="2900" b="1" dirty="0"/>
              <a:t>Language &amp; runtime: </a:t>
            </a:r>
          </a:p>
          <a:p>
            <a:pPr marL="457200" lvl="1" indent="0">
              <a:buNone/>
            </a:pPr>
            <a:r>
              <a:rPr lang="en-US" dirty="0"/>
              <a:t>Python 3 for both the analytics notebook and the </a:t>
            </a:r>
            <a:r>
              <a:rPr lang="en-US" dirty="0" err="1"/>
              <a:t>Streamlit</a:t>
            </a:r>
            <a:r>
              <a:rPr lang="en-US" dirty="0"/>
              <a:t> frontend.</a:t>
            </a:r>
          </a:p>
          <a:p>
            <a:r>
              <a:rPr lang="en-IN" b="1" dirty="0"/>
              <a:t>Frameworks &amp; libraries:</a:t>
            </a:r>
            <a:endParaRPr lang="en-IN" dirty="0"/>
          </a:p>
          <a:p>
            <a:pPr lvl="1"/>
            <a:r>
              <a:rPr lang="en-IN" dirty="0"/>
              <a:t>Front‑end: </a:t>
            </a:r>
            <a:r>
              <a:rPr lang="en-IN" dirty="0" err="1"/>
              <a:t>Streamlit</a:t>
            </a:r>
            <a:r>
              <a:rPr lang="en-IN" dirty="0"/>
              <a:t> + </a:t>
            </a:r>
            <a:r>
              <a:rPr lang="en-IN" dirty="0" err="1"/>
              <a:t>streamlit</a:t>
            </a:r>
            <a:r>
              <a:rPr lang="en-IN" dirty="0"/>
              <a:t>-menu for the multi‑role banking UI.</a:t>
            </a:r>
          </a:p>
          <a:p>
            <a:pPr lvl="1"/>
            <a:r>
              <a:rPr lang="en-IN" dirty="0"/>
              <a:t>Data &amp; analytics: Pandas, SQLite (sqlite3), Matplotlib, Seaborn, Plotly Express for EDA, dashboards, and </a:t>
            </a:r>
            <a:r>
              <a:rPr lang="en-IN" dirty="0" err="1"/>
              <a:t>charts.SecureBank</a:t>
            </a:r>
            <a:r>
              <a:rPr lang="en-IN" dirty="0"/>
              <a:t>-Pro.</a:t>
            </a:r>
          </a:p>
          <a:p>
            <a:r>
              <a:rPr lang="en-IN" b="1" dirty="0"/>
              <a:t>Data store:</a:t>
            </a:r>
            <a:r>
              <a:rPr lang="en-IN" dirty="0"/>
              <a:t> Single SQLite database </a:t>
            </a:r>
            <a:r>
              <a:rPr lang="en-IN" dirty="0" err="1"/>
              <a:t>fortressbank.db</a:t>
            </a:r>
            <a:r>
              <a:rPr lang="en-IN" dirty="0"/>
              <a:t> containing Customers, Accounts, Transactions, Loans, </a:t>
            </a:r>
            <a:r>
              <a:rPr lang="en-IN" dirty="0" err="1"/>
              <a:t>ServiceRequests</a:t>
            </a:r>
            <a:r>
              <a:rPr lang="en-IN" dirty="0"/>
              <a:t>, </a:t>
            </a:r>
            <a:r>
              <a:rPr lang="en-IN" dirty="0" err="1"/>
              <a:t>FraudAlerts</a:t>
            </a:r>
            <a:r>
              <a:rPr lang="en-IN" dirty="0"/>
              <a:t>, and </a:t>
            </a:r>
            <a:r>
              <a:rPr lang="en-IN" dirty="0" err="1"/>
              <a:t>AuditLog</a:t>
            </a:r>
            <a:r>
              <a:rPr lang="en-IN" dirty="0"/>
              <a:t> tables used by both the notebook and the app.</a:t>
            </a:r>
          </a:p>
          <a:p>
            <a:pPr lvl="1"/>
            <a:endParaRPr lang="en-IN" b="1" dirty="0"/>
          </a:p>
          <a:p>
            <a:pPr marL="457200" lvl="1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01DCFE-1434-8BE7-9785-216B9B38E2C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IN" b="1" dirty="0"/>
              <a:t>Tastings</a:t>
            </a:r>
          </a:p>
          <a:p>
            <a:r>
              <a:rPr lang="en-US" b="1" dirty="0"/>
              <a:t>Unit‑level tests (notebook):</a:t>
            </a:r>
            <a:endParaRPr lang="en-US" dirty="0"/>
          </a:p>
          <a:p>
            <a:pPr lvl="1"/>
            <a:r>
              <a:rPr lang="en-US" dirty="0"/>
              <a:t>Execute secure transfer is tested with a </a:t>
            </a:r>
            <a:r>
              <a:rPr lang="en-US" b="1" dirty="0"/>
              <a:t>success case</a:t>
            </a:r>
            <a:r>
              <a:rPr lang="en-US" dirty="0"/>
              <a:t> (e.g., transfer 500 between accounts and then re‑query balances) and a </a:t>
            </a:r>
            <a:r>
              <a:rPr lang="en-US" b="1" dirty="0"/>
              <a:t>failure case</a:t>
            </a:r>
            <a:r>
              <a:rPr lang="en-US" dirty="0"/>
              <a:t> (huge amount causing “insufficient funds” and a rollback), verifying atomicity and correctness of the transfer logic . </a:t>
            </a:r>
          </a:p>
          <a:p>
            <a:r>
              <a:rPr lang="en-US" b="1" dirty="0"/>
              <a:t>System‑level tests (frontend):</a:t>
            </a:r>
            <a:endParaRPr lang="en-US" dirty="0"/>
          </a:p>
          <a:p>
            <a:pPr lvl="1"/>
            <a:r>
              <a:rPr lang="en-US" dirty="0"/>
              <a:t>Manual end‑to‑end runs through the </a:t>
            </a:r>
            <a:r>
              <a:rPr lang="en-US" dirty="0" err="1"/>
              <a:t>Streamlit</a:t>
            </a:r>
            <a:r>
              <a:rPr lang="en-US" dirty="0"/>
              <a:t> UI: logging in as customer/official, performing transfers, loan approvals, and service requests, then checking that dashboards, statements, and </a:t>
            </a:r>
            <a:r>
              <a:rPr lang="en-US" dirty="0" err="1"/>
              <a:t>FraudAlerts</a:t>
            </a:r>
            <a:r>
              <a:rPr lang="en-US" dirty="0"/>
              <a:t>/</a:t>
            </a:r>
            <a:r>
              <a:rPr lang="en-US" dirty="0" err="1"/>
              <a:t>AuditLog</a:t>
            </a:r>
            <a:r>
              <a:rPr lang="en-US" dirty="0"/>
              <a:t> tables update consistently in </a:t>
            </a:r>
            <a:r>
              <a:rPr lang="en-US" dirty="0" err="1"/>
              <a:t>fortressbank</a:t>
            </a:r>
            <a:r>
              <a:rPr lang="en-US" dirty="0"/>
              <a:t> database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938367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F1D086C-4340-4A5B-9D09-6F5B31B1156E}"/>
              </a:ext>
            </a:extLst>
          </p:cNvPr>
          <p:cNvSpPr txBox="1"/>
          <p:nvPr/>
        </p:nvSpPr>
        <p:spPr>
          <a:xfrm>
            <a:off x="453864" y="212372"/>
            <a:ext cx="48176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4400" b="1" dirty="0">
              <a:solidFill>
                <a:schemeClr val="accent6">
                  <a:lumMod val="40000"/>
                  <a:lumOff val="60000"/>
                </a:schemeClr>
              </a:solidFill>
              <a:effectLst>
                <a:innerShdw blurRad="63500" dist="50800">
                  <a:prstClr val="black">
                    <a:alpha val="50000"/>
                  </a:prstClr>
                </a:innerShdw>
              </a:effectLs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91EF2A-F432-48A2-33F1-16EC2C18E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40" y="111125"/>
            <a:ext cx="5613400" cy="854075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RESULTS &amp; FINDINGS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E283DA25-D62D-D427-8144-1DDEC369DF13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206327452"/>
              </p:ext>
            </p:extLst>
          </p:nvPr>
        </p:nvGraphicFramePr>
        <p:xfrm>
          <a:off x="756920" y="2141537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2DDE64DF-CA90-A083-3C37-12099AFB8CB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62246305"/>
              </p:ext>
            </p:extLst>
          </p:nvPr>
        </p:nvGraphicFramePr>
        <p:xfrm>
          <a:off x="6426200" y="2141537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6455D8C-3DAD-3ABB-EB0B-5EBE131117D2}"/>
              </a:ext>
            </a:extLst>
          </p:cNvPr>
          <p:cNvSpPr txBox="1"/>
          <p:nvPr/>
        </p:nvSpPr>
        <p:spPr>
          <a:xfrm>
            <a:off x="6817360" y="1432560"/>
            <a:ext cx="4094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Key Observations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D62646-E823-95CE-D420-D7A1E0B78A03}"/>
              </a:ext>
            </a:extLst>
          </p:cNvPr>
          <p:cNvSpPr txBox="1"/>
          <p:nvPr/>
        </p:nvSpPr>
        <p:spPr>
          <a:xfrm>
            <a:off x="1391920" y="1432560"/>
            <a:ext cx="4094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Performance Result </a:t>
            </a:r>
          </a:p>
        </p:txBody>
      </p:sp>
    </p:spTree>
    <p:extLst>
      <p:ext uri="{BB962C8B-B14F-4D97-AF65-F5344CB8AC3E}">
        <p14:creationId xmlns:p14="http://schemas.microsoft.com/office/powerpoint/2010/main" val="705553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F1D086C-4340-4A5B-9D09-6F5B31B1156E}"/>
              </a:ext>
            </a:extLst>
          </p:cNvPr>
          <p:cNvSpPr txBox="1"/>
          <p:nvPr/>
        </p:nvSpPr>
        <p:spPr>
          <a:xfrm>
            <a:off x="464024" y="305983"/>
            <a:ext cx="48176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4400" b="1" dirty="0">
              <a:solidFill>
                <a:schemeClr val="accent6">
                  <a:lumMod val="40000"/>
                  <a:lumOff val="60000"/>
                </a:schemeClr>
              </a:solidFill>
              <a:effectLst>
                <a:innerShdw blurRad="63500" dist="50800">
                  <a:prstClr val="black">
                    <a:alpha val="50000"/>
                  </a:prstClr>
                </a:innerShdw>
              </a:effectLst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988A491-9A00-63EE-B74A-E86508627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 &amp; Future work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B9A0C38-0BB7-D5AD-55DA-1EACD48B8D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D8F4842-D056-EB73-8A32-18D3A0E2AB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024" y="2505075"/>
            <a:ext cx="5533551" cy="3813429"/>
          </a:xfrm>
        </p:spPr>
        <p:txBody>
          <a:bodyPr>
            <a:normAutofit fontScale="32500" lnSpcReduction="20000"/>
          </a:bodyPr>
          <a:lstStyle/>
          <a:p>
            <a:r>
              <a:rPr lang="en-US" sz="4900" dirty="0"/>
              <a:t>Built an end‑to‑end </a:t>
            </a:r>
            <a:r>
              <a:rPr lang="en-US" sz="4900" b="1" dirty="0"/>
              <a:t>data‑driven core banking prototype</a:t>
            </a:r>
            <a:r>
              <a:rPr lang="en-US" sz="4900" dirty="0"/>
              <a:t> where all customer, account, loan, and transaction data live in a single SQLite database (</a:t>
            </a:r>
            <a:r>
              <a:rPr lang="en-US" sz="4900" dirty="0" err="1"/>
              <a:t>fortressbank.db</a:t>
            </a:r>
            <a:r>
              <a:rPr lang="en-US" sz="4900" dirty="0"/>
              <a:t>) shared by the notebook and </a:t>
            </a:r>
            <a:r>
              <a:rPr lang="en-US" sz="4900" dirty="0" err="1"/>
              <a:t>Streamlit</a:t>
            </a:r>
            <a:r>
              <a:rPr lang="en-US" sz="4900" dirty="0"/>
              <a:t> app.</a:t>
            </a:r>
          </a:p>
          <a:p>
            <a:r>
              <a:rPr lang="en-US" sz="4900" dirty="0"/>
              <a:t>Implemented a </a:t>
            </a:r>
            <a:r>
              <a:rPr lang="en-US" sz="4900" b="1" dirty="0"/>
              <a:t>secure, ACID‑style transaction engine</a:t>
            </a:r>
            <a:r>
              <a:rPr lang="en-US" sz="4900" dirty="0"/>
              <a:t> that logs every transfer into Transactions, </a:t>
            </a:r>
            <a:r>
              <a:rPr lang="en-US" sz="4900" dirty="0" err="1"/>
              <a:t>FraudAlerts</a:t>
            </a:r>
            <a:r>
              <a:rPr lang="en-US" sz="4900" dirty="0"/>
              <a:t>, and </a:t>
            </a:r>
            <a:r>
              <a:rPr lang="en-US" sz="4900" dirty="0" err="1"/>
              <a:t>AuditLog</a:t>
            </a:r>
            <a:r>
              <a:rPr lang="en-US" sz="4900" dirty="0"/>
              <a:t>, making activity consistent and traceable.</a:t>
            </a:r>
          </a:p>
          <a:p>
            <a:r>
              <a:rPr lang="en-US" sz="4900" dirty="0"/>
              <a:t>Added </a:t>
            </a:r>
            <a:r>
              <a:rPr lang="en-US" sz="4900" b="1" dirty="0"/>
              <a:t>analytics and fraud‑detection</a:t>
            </a:r>
            <a:r>
              <a:rPr lang="en-US" sz="4900" dirty="0"/>
              <a:t> (amount histograms, velocity‑based outlier detection, and real‑time KPIs/dashboards) to monitor customer mix, liquidity, and suspicious </a:t>
            </a:r>
            <a:r>
              <a:rPr lang="en-US" sz="4900" dirty="0" err="1"/>
              <a:t>behavior.SecureBank</a:t>
            </a:r>
            <a:r>
              <a:rPr lang="en-US" sz="4900" dirty="0"/>
              <a:t>-Pro.</a:t>
            </a:r>
          </a:p>
          <a:p>
            <a:r>
              <a:rPr lang="en-US" sz="4900" dirty="0"/>
              <a:t>Provided separate </a:t>
            </a:r>
            <a:r>
              <a:rPr lang="en-US" sz="4900" b="1" dirty="0"/>
              <a:t>Customer</a:t>
            </a:r>
            <a:r>
              <a:rPr lang="en-US" sz="4900" dirty="0"/>
              <a:t> and </a:t>
            </a:r>
            <a:r>
              <a:rPr lang="en-US" sz="4900" b="1" dirty="0"/>
              <a:t>Bank‑Official</a:t>
            </a:r>
            <a:r>
              <a:rPr lang="en-US" sz="4900" dirty="0"/>
              <a:t> portals so operational actions (transfers, loans, service requests) are tightly integrated with the data‑science layer.</a:t>
            </a:r>
          </a:p>
          <a:p>
            <a:endParaRPr lang="en-IN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38E43E4-88F7-3D9C-9E8D-14699723EE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Future work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ACD27CE3-A1F4-68C0-5295-AAD5A74CCF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072765"/>
          </a:xfrm>
        </p:spPr>
        <p:txBody>
          <a:bodyPr>
            <a:noAutofit/>
          </a:bodyPr>
          <a:lstStyle/>
          <a:p>
            <a:r>
              <a:rPr lang="en-IN" sz="1600" b="1" dirty="0"/>
              <a:t>Stronger fraud models: </a:t>
            </a:r>
            <a:r>
              <a:rPr lang="en-IN" sz="1600" dirty="0"/>
              <a:t>Extend the current rule‑based checks (high value, high velocity) with supervised or unsupervised ML models (e.g., anomaly detection, clustering, gradient‑boosted classifiers) trained on labelled fraud data.</a:t>
            </a:r>
          </a:p>
          <a:p>
            <a:endParaRPr lang="en-IN" sz="1600" dirty="0"/>
          </a:p>
          <a:p>
            <a:r>
              <a:rPr lang="en-IN" sz="1600" b="1" dirty="0"/>
              <a:t>Scalability &amp; deployment: </a:t>
            </a:r>
            <a:r>
              <a:rPr lang="en-IN" sz="1600" dirty="0"/>
              <a:t>Migrate from SQLite to a production‑grade RDBMS (PostgreSQL/MySQL) and containerize the </a:t>
            </a:r>
            <a:r>
              <a:rPr lang="en-IN" sz="1600" dirty="0" err="1"/>
              <a:t>Streamlit</a:t>
            </a:r>
            <a:r>
              <a:rPr lang="en-IN" sz="1600" dirty="0"/>
              <a:t> app for cloud deployment with better concurrency handling.</a:t>
            </a:r>
          </a:p>
        </p:txBody>
      </p:sp>
    </p:spTree>
    <p:extLst>
      <p:ext uri="{BB962C8B-B14F-4D97-AF65-F5344CB8AC3E}">
        <p14:creationId xmlns:p14="http://schemas.microsoft.com/office/powerpoint/2010/main" val="3392205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F1D086C-4340-4A5B-9D09-6F5B31B1156E}"/>
              </a:ext>
            </a:extLst>
          </p:cNvPr>
          <p:cNvSpPr txBox="1"/>
          <p:nvPr/>
        </p:nvSpPr>
        <p:spPr>
          <a:xfrm>
            <a:off x="464024" y="305983"/>
            <a:ext cx="48176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4400" b="1" dirty="0">
              <a:solidFill>
                <a:schemeClr val="accent6">
                  <a:lumMod val="40000"/>
                  <a:lumOff val="60000"/>
                </a:schemeClr>
              </a:solidFill>
              <a:effectLst>
                <a:innerShdw blurRad="63500" dist="50800">
                  <a:prstClr val="black">
                    <a:alpha val="50000"/>
                  </a:prstClr>
                </a:inn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237962-D3B6-4288-B750-B592B21D1FE4}"/>
              </a:ext>
            </a:extLst>
          </p:cNvPr>
          <p:cNvSpPr txBox="1"/>
          <p:nvPr/>
        </p:nvSpPr>
        <p:spPr>
          <a:xfrm>
            <a:off x="464024" y="305983"/>
            <a:ext cx="41216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0B3C5D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</a:rPr>
              <a:t>8. 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15A713-A772-325F-F1F5-CB2D9D27F1F7}"/>
              </a:ext>
            </a:extLst>
          </p:cNvPr>
          <p:cNvSpPr txBox="1"/>
          <p:nvPr/>
        </p:nvSpPr>
        <p:spPr>
          <a:xfrm>
            <a:off x="1697236" y="1828800"/>
            <a:ext cx="8288012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2000" dirty="0">
                <a:hlinkClick r:id="rId2"/>
              </a:rPr>
              <a:t>https://docs.streamlit.iostreamlit</a:t>
            </a:r>
            <a:endParaRPr lang="en-IN" sz="2000" dirty="0"/>
          </a:p>
          <a:p>
            <a:pPr marL="342900" indent="-342900">
              <a:buFont typeface="+mj-lt"/>
              <a:buAutoNum type="arabicPeriod"/>
            </a:pPr>
            <a:r>
              <a:rPr lang="en-IN" sz="2000" dirty="0">
                <a:hlinkClick r:id="rId3"/>
              </a:rPr>
              <a:t>https://pandas.pydata.org/docs/pandas.pydata</a:t>
            </a:r>
            <a:endParaRPr lang="en-IN" sz="2000" dirty="0"/>
          </a:p>
          <a:p>
            <a:pPr marL="342900" indent="-342900">
              <a:buFont typeface="+mj-lt"/>
              <a:buAutoNum type="arabicPeriod"/>
            </a:pPr>
            <a:r>
              <a:rPr lang="en-IN" sz="2000" dirty="0">
                <a:hlinkClick r:id="rId4"/>
              </a:rPr>
              <a:t>https://www.checkout.com/blog/velocity-checkcheckout</a:t>
            </a:r>
            <a:endParaRPr lang="en-IN" sz="2000" dirty="0"/>
          </a:p>
          <a:p>
            <a:pPr marL="342900" indent="-342900">
              <a:buFont typeface="+mj-lt"/>
              <a:buAutoNum type="arabicPeriod"/>
            </a:pPr>
            <a:r>
              <a:rPr lang="en-IN" sz="2000" dirty="0">
                <a:hlinkClick r:id="rId5"/>
              </a:rPr>
              <a:t>https://instantaccept.com/glossary/velocity-rules/instantaccept</a:t>
            </a:r>
            <a:r>
              <a:rPr lang="en-IN" sz="2000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>
                <a:hlinkClick r:id="rId6"/>
              </a:rPr>
              <a:t>https://github.com/shakhscode/VisualAnalyticsUsingGraphNetworks</a:t>
            </a:r>
            <a:endParaRPr lang="en-IN" sz="2000" dirty="0"/>
          </a:p>
          <a:p>
            <a:pPr marL="342900" indent="-342900">
              <a:buFont typeface="+mj-lt"/>
              <a:buAutoNum type="arabicPeriod"/>
            </a:pPr>
            <a:r>
              <a:rPr lang="en-IN" sz="2000" dirty="0">
                <a:hlinkClick r:id="rId7"/>
              </a:rPr>
              <a:t>https://dev.to/agustin_bereciartua/building-a-fraud-detection-system-in-python-with-machine-learning-1p3n</a:t>
            </a:r>
            <a:r>
              <a:rPr lang="en-IN" sz="2000" dirty="0"/>
              <a:t> 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1060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9E490DC1-C8B6-4745-BC62-921D4D2A4FC2}"/>
              </a:ext>
            </a:extLst>
          </p:cNvPr>
          <p:cNvSpPr txBox="1"/>
          <p:nvPr/>
        </p:nvSpPr>
        <p:spPr>
          <a:xfrm>
            <a:off x="3638228" y="2126954"/>
            <a:ext cx="412162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rgbClr val="0B3C5D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52304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589</TotalTime>
  <Words>954</Words>
  <Application>Microsoft Office PowerPoint</Application>
  <PresentationFormat>Widescreen</PresentationFormat>
  <Paragraphs>75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Implementations &amp; Tastings</vt:lpstr>
      <vt:lpstr>RESULTS &amp; FINDINGS</vt:lpstr>
      <vt:lpstr>Conclusion &amp; Future work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LaProf</dc:creator>
  <cp:lastModifiedBy>ZENUS DASH</cp:lastModifiedBy>
  <cp:revision>46</cp:revision>
  <dcterms:created xsi:type="dcterms:W3CDTF">2018-04-26T03:43:54Z</dcterms:created>
  <dcterms:modified xsi:type="dcterms:W3CDTF">2026-05-03T15:50:30Z</dcterms:modified>
</cp:coreProperties>
</file>